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Project name, subtitle, and the tech stack line.
WHAT TO SAY
Hello, I'm presenting the NCT &amp; PubMed Research Intelligence Platform. It helps researchers see what changed on clinical trial pages, understand PubMed papers, and compare clinical trials. I built it with Python, FastAPI, SQLite and the Groq API.
POSSIBLE INTERVIEWER QUESTION
Why did you choose this project structure / stack?
SIMPLE ANSWER
The assignment named Python, FastAPI and SQLite, so I used those. I kept everything simple so I can explain every part: plain Python for the logic and an LLM only where it adds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Five pain points researchers face with ClinicalTrials.gov and PubMed.
WHAT TO SAY
Researchers manually review ClinicalTrials.gov and PubMed. Trial pages change over time, but the site only says 'updated' - it does not show exactly what changed. Comparing many trials by hand is slow, and papers contain a lot of unstructured text. My project automates these four things.
POSSIBLE INTERVIEWER QUESTION
Who is the user of this system?
SIMPLE ANSWER
A clinical researcher or analyst who monitors a drug or disease area and wants a quick, structured view instead of opening dozens of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Three modules: NCT change tracking, PubMed research intelligence, clinical trial comparator.
WHAT TO SAY
The platform has three modules inside one FastAPI application. Module 1 tracks versions of an NCT page and lists exact changes. Module 2 searches PubMed, stores articles and uses AI to summarize them. Module 3 takes a drug and an indication and shows a side-by-side comparison of trials.
POSSIBLE INTERVIEWER QUESTION
Are the three modules connected?
SIMPLE ANSWER
They share one database, one UI and one AI service. Module 1 and 3 both use ClinicalTrials.gov data and the same field names, so a trial can be tracked and compared.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Three pipelines: NCT change log, PubMed AI summary, trial comparison. Violet boxes use Groq AI; teal boxes are plain Python.
WHAT TO SAY
Each module is a pipeline. For NCT: download, parse, store in SQLite, compare, show the change log - no AI. For PubMed: extract article data, store it, then Groq produces the summary. For trials: extract in Python, store, Groq explains each trial, and the comparison table is built by Python.
POSSIBLE INTERVIEWER QUESTION
Why store data in a database instead of just comparing live?
SIMPLE ANSWER
To keep history. To say 'what changed' I must have the older version saved, and storing parsed data also avoids calling the APIs again and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User, HTML/JS UI, FastAPI, three modules, external sources, SQLite, Groq service. Legend shows AI vs non-AI.
WHAT TO SAY
The user works in a plain HTML/JavaScript UI. It calls FastAPI. FastAPI routes the request to a module, which calls ClinicalTrials.gov or PubMed, saves results in SQLite, and only when needed calls the Groq service. Teal means plain Python, violet means AI. All AI code is in one file.
POSSIBLE INTERVIEWER QUESTION
Why is all Groq code in one file?
SIMPLE ANSWER
It keeps the AI layer replaceable and easy to test - I can swap the model or provider by changing one file, and tests can fake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Table of layers and technologies, plus a note on simplicity.
WHAT TO SAY
Python and FastAPI for the backend, SQLAlchemy with SQLite locally and PostgreSQL on Supabase in the cloud, Pydantic for validation, BeautifulSoup for HTML parsing. Data comes from the official PubMed and ClinicalTrials.gov APIs. Groq provides the LLM. The frontend is plain HTML, CSS and JavaScript, deployed on Render.
POSSIBLE INTERVIEWER QUESTION
Why SQLite?
SIMPLE ANSWER
SQLite needs no server, so it is ideal for local development and tests. For the cloud I use Supabase PostgreSQL by changing only DATABASE_URL, because SQLAlchemy hides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Both HTML versions go through the parser to normalized JSON, then compare. Example: eligibility age changed from 18-65 to 18-70 - MODIFIED.
WHAT TO SAY
Both versions are parsed into the same dictionary shape. Parsing removes banners, scripts and layout, collapses whitespace and ignores case. Then my compare function flattens the dictionaries and labels each field added, removed or modified, with the old value, new value, time and version numbers. This is plain Python - no AI.
POSSIBLE INTERVIEWER QUESTION
How do you avoid false changes when only the layout changed?
SIMPLE ANSWER
I compare extracted, normalized text rather than HTML. In my sample, the second page has different tags and banners, but only the 9 real changes are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Pipeline: search, PubMed API, article metadata, SQLite, Groq, summary and key findings. Note on figures.
WHAT TO SAY
I search with the official NCBI E-utilities: esearch returns article IDs and efetch returns XML. I parse the XML in Python and save publications, authors and figures in SQLite. Groq then summarizes the abstract. For open-access articles I also download figures; if the image is available the model sees the image plus caption, otherwise only caption and context, and the UI says which one was used.
POSSIBLE INTERVIEWER QUESTION
Can the AI really read images?
SIMPLE ANSWER
Groq's Llama 4 Scout model accepts images, so yes when I have the image file. When I don't, I do not pretend - the result is labelled caption/context-based.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Pipeline from drug + indication to comparison table, and what Python extracts versus what Groq answers.
WHAT TO SAY
The researcher enters a drug and an indication. I call the ClinicalTrials.gov API, and Python extracts drugs, doses, arms, phase, design, criteria, outcomes, duration and locations. Groq only answers seven standard questions such as what the trial investigates and what makes it different. The table and the highlighting of differences are also plain Python.
POSSIBLE INTERVIEWER QUESTION
Why not let the AI extract the trial fields too?
SIMPLE ANSWER
Structured fields are better and cheaper to extract with normal code - it is exact, testable and does not hallucinate. AI is for interpretation, which code cannot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Tables grouped by module with one-to-many relationships.
WHAT TO SAY
Module 1: one study has many versions and many changes. Module 2: one publication has many authors, figures and AI analyses. Module 3: one trial has analyses. Images are saved as files and the database only keeps their path. Full parsed trials are stored as JSON text plus a few real columns for filtering.
POSSIBLE INTERVIEWER QUESTION
What is a one-to-many relationship?
SIMPLE ANSWER
One row in a table is linked to many rows in another - for example one NCT study has many versions. It is implemented with a foreign key such as study_id.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Table of the main endpoints, with method, path and purpose.
WHAT TO SAY
FastAPI exposes REST endpoints. POST /api/nct/compare takes two HTML files and returns the change log. GET /api/pubmed/search searches PubMed. POST /api/pubmed/analyze sends an abstract to Groq. GET /api/trials/search finds trials, and POST /api/trials/compare returns the comparison table. /docs shows all of them interactively.
POSSIBLE INTERVIEWER QUESTION
What is the difference between GET and POST?
SIMPLE ANSWER
GET only reads data. POST sends data, such as files or JSON, for the server to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Four real screenshots: dashboard, NCT change log, PubMed article detail, trial comparison.
WHAT TO SAY
The UI is plain HTML, CSS and JavaScript served by FastAPI. The dashboard shows counts and shortcuts. The NCT page shows a change table with side-by-side view. The PubMed page shows the abstract, AI summary and figures. The trial page shows a comparison table where rows that differ are highlighted.
POSSIBLE INTERVIEWER QUESTION
Why not use React?
SIMPLE ANSWER
The UI is simple, and plain JavaScript keeps the project easy to understand and deploy as one app. React would add tooling without much benefit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Two columns: what is done without AI (Python) and what is done with Groq.
WHAT TO SAY
This is the key slide. Parsing, extraction, normalization, version comparison, API calls, database work, filtering and the comparison table are normal Python. Groq is used only for article summaries, research interpretation, trial understanding, key findings and figure interpretation. The core engineering is deterministic code; the LLM is an extra intelligence layer.
POSSIBLE INTERVIEWER QUESTION
How do you control AI mistakes?
SIMPLE ANSWER
The prompt says to use only the given text and answer 'Not stated' if unsure; the output has fixed keys; results are labelled AI-generated; and the important comparison never depends on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Three demos in order: NCT comparison, PubMed summary, trial comparison.
WHAT TO SAY
Demo 1: compare two NCT versions and show the detected age change. Demo 2: search PubMed, open an article and get the Groq summary. Demo 3: search pembrolizumab with melanoma and compare three trials side by side. Everything also works offline with sample data.
POSSIBLE INTERVIEWER QUESTION
What if the internet fails during a demo?
SIMPLE ANSWER
I included sample NCT, PubMed and trial data, and a 'use sample data' option, so the demo runs without external APIs.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ON THE SLIDE
Ten possible improvements.
WHAT TO SAY
Next steps are S3, R2 or Supabase Storage for images, scheduled NCT monitoring with email alerts, better image analysis, authentication, advanced search, similarity-based trial discovery, cloud deployment and an analytics dashboard. I would also run the live APIs for a longer period and harden the parsers.
POSSIBLE INTERVIEWER QUESTION
What is the biggest limitation today?
SIMPLE ANSWER
The live external APIs need a networked test run and AI output needs human review. Files such as figure images are on Render's temporary disk and need S3-style storage; the data itself is safe in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1097280"/>
            <a:ext cx="7863840" cy="146304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NCT &amp; PubMed Research Intelligence Platform</a:t>
            </a:r>
            <a:endParaRPr lang="en-US" sz="4000" dirty="0"/>
          </a:p>
        </p:txBody>
      </p:sp>
      <p:sp>
        <p:nvSpPr>
          <p:cNvPr id="4" name="Text 1"/>
          <p:cNvSpPr txBox="1"/>
          <p:nvPr/>
        </p:nvSpPr>
        <p:spPr>
          <a:xfrm>
            <a:off x="640080" y="2743200"/>
            <a:ext cx="7863840" cy="457200"/>
          </a:xfrm>
          <a:prstGeom prst="rect">
            <a:avLst/>
          </a:prstGeom>
          <a:noFill/>
          <a:ln/>
        </p:spPr>
        <p:txBody>
          <a:bodyPr wrap="square" lIns="0" tIns="0" rIns="0" bIns="0" rtlCol="0" anchor="ctr"/>
          <a:lstStyle/>
          <a:p>
            <a:pPr indent="0" marL="0">
              <a:buNone/>
            </a:pPr>
            <a:r>
              <a:rPr lang="en-US" sz="2000" dirty="0">
                <a:solidFill>
                  <a:schemeClr val="bg2"/>
                </a:solidFill>
              </a:rPr>
              <a:t>Clinical Research Monitoring, Analysis &amp; Trial Comparison</a:t>
            </a:r>
            <a:endParaRPr lang="en-US" sz="2000" dirty="0"/>
          </a:p>
        </p:txBody>
      </p:sp>
      <p:sp>
        <p:nvSpPr>
          <p:cNvPr id="5" name="box Python"/>
          <p:cNvSpPr/>
          <p:nvPr/>
        </p:nvSpPr>
        <p:spPr>
          <a:xfrm>
            <a:off x="640080" y="3840480"/>
            <a:ext cx="1234440" cy="384048"/>
          </a:xfrm>
          <a:prstGeom prst="roundRect">
            <a:avLst>
              <a:gd name="adj" fmla="val 19048"/>
            </a:avLst>
          </a:prstGeom>
          <a:solidFill>
            <a:schemeClr val="accent1"/>
          </a:solidFill>
          <a:ln/>
        </p:spPr>
        <p:txBody>
          <a:bodyPr wrap="square" lIns="50800" tIns="50800" rIns="50800" bIns="50800" rtlCol="0" anchor="ctr"/>
          <a:lstStyle/>
          <a:p>
            <a:pPr algn="ctr" indent="0" marL="0">
              <a:buNone/>
            </a:pPr>
            <a:r>
              <a:rPr lang="en-US" sz="1300" dirty="0">
                <a:solidFill>
                  <a:schemeClr val="bg1"/>
                </a:solidFill>
              </a:rPr>
              <a:t>Python</a:t>
            </a:r>
            <a:endParaRPr lang="en-US" sz="1300" dirty="0"/>
          </a:p>
        </p:txBody>
      </p:sp>
      <p:sp>
        <p:nvSpPr>
          <p:cNvPr id="6" name="box FastAPI"/>
          <p:cNvSpPr/>
          <p:nvPr/>
        </p:nvSpPr>
        <p:spPr>
          <a:xfrm>
            <a:off x="2011680" y="3840480"/>
            <a:ext cx="1234440" cy="384048"/>
          </a:xfrm>
          <a:prstGeom prst="roundRect">
            <a:avLst>
              <a:gd name="adj" fmla="val 19048"/>
            </a:avLst>
          </a:prstGeom>
          <a:solidFill>
            <a:schemeClr val="accent1"/>
          </a:solidFill>
          <a:ln/>
        </p:spPr>
        <p:txBody>
          <a:bodyPr wrap="square" lIns="50800" tIns="50800" rIns="50800" bIns="50800" rtlCol="0" anchor="ctr"/>
          <a:lstStyle/>
          <a:p>
            <a:pPr algn="ctr" indent="0" marL="0">
              <a:buNone/>
            </a:pPr>
            <a:r>
              <a:rPr lang="en-US" sz="1300" dirty="0">
                <a:solidFill>
                  <a:schemeClr val="bg1"/>
                </a:solidFill>
              </a:rPr>
              <a:t>FastAPI</a:t>
            </a:r>
            <a:endParaRPr lang="en-US" sz="1300" dirty="0"/>
          </a:p>
        </p:txBody>
      </p:sp>
      <p:sp>
        <p:nvSpPr>
          <p:cNvPr id="7" name="box SQLite"/>
          <p:cNvSpPr/>
          <p:nvPr/>
        </p:nvSpPr>
        <p:spPr>
          <a:xfrm>
            <a:off x="3383280" y="3840480"/>
            <a:ext cx="1234440" cy="384048"/>
          </a:xfrm>
          <a:prstGeom prst="roundRect">
            <a:avLst>
              <a:gd name="adj" fmla="val 19048"/>
            </a:avLst>
          </a:prstGeom>
          <a:solidFill>
            <a:schemeClr val="accent1"/>
          </a:solidFill>
          <a:ln/>
        </p:spPr>
        <p:txBody>
          <a:bodyPr wrap="square" lIns="50800" tIns="50800" rIns="50800" bIns="50800" rtlCol="0" anchor="ctr"/>
          <a:lstStyle/>
          <a:p>
            <a:pPr algn="ctr" indent="0" marL="0">
              <a:buNone/>
            </a:pPr>
            <a:r>
              <a:rPr lang="en-US" sz="1300" dirty="0">
                <a:solidFill>
                  <a:schemeClr val="bg1"/>
                </a:solidFill>
              </a:rPr>
              <a:t>SQLite</a:t>
            </a:r>
            <a:endParaRPr lang="en-US" sz="1300" dirty="0"/>
          </a:p>
        </p:txBody>
      </p:sp>
      <p:sp>
        <p:nvSpPr>
          <p:cNvPr id="8" name="box BeautifulSoup"/>
          <p:cNvSpPr/>
          <p:nvPr/>
        </p:nvSpPr>
        <p:spPr>
          <a:xfrm>
            <a:off x="4754880" y="3840480"/>
            <a:ext cx="1234440" cy="384048"/>
          </a:xfrm>
          <a:prstGeom prst="roundRect">
            <a:avLst>
              <a:gd name="adj" fmla="val 19048"/>
            </a:avLst>
          </a:prstGeom>
          <a:solidFill>
            <a:schemeClr val="accent1"/>
          </a:solidFill>
          <a:ln/>
        </p:spPr>
        <p:txBody>
          <a:bodyPr wrap="square" lIns="50800" tIns="50800" rIns="50800" bIns="50800" rtlCol="0" anchor="ctr"/>
          <a:lstStyle/>
          <a:p>
            <a:pPr algn="ctr" indent="0" marL="0">
              <a:buNone/>
            </a:pPr>
            <a:r>
              <a:rPr lang="en-US" sz="1300" dirty="0">
                <a:solidFill>
                  <a:schemeClr val="bg1"/>
                </a:solidFill>
              </a:rPr>
              <a:t>BeautifulSoup</a:t>
            </a:r>
            <a:endParaRPr lang="en-US" sz="1300" dirty="0"/>
          </a:p>
        </p:txBody>
      </p:sp>
      <p:sp>
        <p:nvSpPr>
          <p:cNvPr id="9" name="box Groq"/>
          <p:cNvSpPr/>
          <p:nvPr/>
        </p:nvSpPr>
        <p:spPr>
          <a:xfrm>
            <a:off x="6126480" y="3840480"/>
            <a:ext cx="1234440" cy="384048"/>
          </a:xfrm>
          <a:prstGeom prst="roundRect">
            <a:avLst>
              <a:gd name="adj" fmla="val 19048"/>
            </a:avLst>
          </a:prstGeom>
          <a:solidFill>
            <a:schemeClr val="accent2"/>
          </a:solidFill>
          <a:ln/>
        </p:spPr>
        <p:txBody>
          <a:bodyPr wrap="square" lIns="50800" tIns="50800" rIns="50800" bIns="50800" rtlCol="0" anchor="ctr"/>
          <a:lstStyle/>
          <a:p>
            <a:pPr algn="ctr" indent="0" marL="0">
              <a:buNone/>
            </a:pPr>
            <a:r>
              <a:rPr lang="en-US" sz="1300" dirty="0">
                <a:solidFill>
                  <a:schemeClr val="bg1"/>
                </a:solidFill>
              </a:rPr>
              <a:t>Groq</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Problem Statement</a:t>
            </a:r>
            <a:endParaRPr lang="en-US" sz="3200" dirty="0"/>
          </a:p>
        </p:txBody>
      </p:sp>
      <p:sp>
        <p:nvSpPr>
          <p:cNvPr id="4" name="num 1"/>
          <p:cNvSpPr/>
          <p:nvPr/>
        </p:nvSpPr>
        <p:spPr>
          <a:xfrm>
            <a:off x="457200" y="11887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2"/>
          <p:cNvSpPr txBox="1"/>
          <p:nvPr/>
        </p:nvSpPr>
        <p:spPr>
          <a:xfrm>
            <a:off x="1188720" y="1188720"/>
            <a:ext cx="4754880" cy="502920"/>
          </a:xfrm>
          <a:prstGeom prst="rect">
            <a:avLst/>
          </a:prstGeom>
          <a:noFill/>
          <a:ln/>
        </p:spPr>
        <p:txBody>
          <a:bodyPr wrap="square" lIns="0" tIns="0" rIns="0" bIns="0" rtlCol="0" anchor="ctr"/>
          <a:lstStyle/>
          <a:p>
            <a:pPr indent="0" marL="0">
              <a:buNone/>
            </a:pPr>
            <a:r>
              <a:rPr lang="en-US" sz="1800" dirty="0">
                <a:solidFill>
                  <a:schemeClr val="tx1"/>
                </a:solidFill>
              </a:rPr>
              <a:t>Researchers manually review ClinicalTrials.gov and PubMed</a:t>
            </a:r>
            <a:endParaRPr lang="en-US" sz="1800" dirty="0"/>
          </a:p>
        </p:txBody>
      </p:sp>
      <p:sp>
        <p:nvSpPr>
          <p:cNvPr id="6" name="num 2"/>
          <p:cNvSpPr/>
          <p:nvPr/>
        </p:nvSpPr>
        <p:spPr>
          <a:xfrm>
            <a:off x="457200" y="1883664"/>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7" name="Text 4"/>
          <p:cNvSpPr txBox="1"/>
          <p:nvPr/>
        </p:nvSpPr>
        <p:spPr>
          <a:xfrm>
            <a:off x="1188720" y="1883664"/>
            <a:ext cx="4754880" cy="502920"/>
          </a:xfrm>
          <a:prstGeom prst="rect">
            <a:avLst/>
          </a:prstGeom>
          <a:noFill/>
          <a:ln/>
        </p:spPr>
        <p:txBody>
          <a:bodyPr wrap="square" lIns="0" tIns="0" rIns="0" bIns="0" rtlCol="0" anchor="ctr"/>
          <a:lstStyle/>
          <a:p>
            <a:pPr indent="0" marL="0">
              <a:buNone/>
            </a:pPr>
            <a:r>
              <a:rPr lang="en-US" sz="1800" dirty="0">
                <a:solidFill>
                  <a:schemeClr val="tx1"/>
                </a:solidFill>
              </a:rPr>
              <a:t>Trial pages change over time</a:t>
            </a:r>
            <a:endParaRPr lang="en-US" sz="1800" dirty="0"/>
          </a:p>
        </p:txBody>
      </p:sp>
      <p:sp>
        <p:nvSpPr>
          <p:cNvPr id="8" name="num 3"/>
          <p:cNvSpPr/>
          <p:nvPr/>
        </p:nvSpPr>
        <p:spPr>
          <a:xfrm>
            <a:off x="457200" y="2578608"/>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9" name="Text 6"/>
          <p:cNvSpPr txBox="1"/>
          <p:nvPr/>
        </p:nvSpPr>
        <p:spPr>
          <a:xfrm>
            <a:off x="1188720" y="2578608"/>
            <a:ext cx="4754880" cy="502920"/>
          </a:xfrm>
          <a:prstGeom prst="rect">
            <a:avLst/>
          </a:prstGeom>
          <a:noFill/>
          <a:ln/>
        </p:spPr>
        <p:txBody>
          <a:bodyPr wrap="square" lIns="0" tIns="0" rIns="0" bIns="0" rtlCol="0" anchor="ctr"/>
          <a:lstStyle/>
          <a:p>
            <a:pPr indent="0" marL="0">
              <a:buNone/>
            </a:pPr>
            <a:r>
              <a:rPr lang="en-US" sz="1800" dirty="0">
                <a:solidFill>
                  <a:schemeClr val="tx1"/>
                </a:solidFill>
              </a:rPr>
              <a:t>Hard to see exactly what changed</a:t>
            </a:r>
            <a:endParaRPr lang="en-US" sz="1800" dirty="0"/>
          </a:p>
        </p:txBody>
      </p:sp>
      <p:sp>
        <p:nvSpPr>
          <p:cNvPr id="10" name="num 4"/>
          <p:cNvSpPr/>
          <p:nvPr/>
        </p:nvSpPr>
        <p:spPr>
          <a:xfrm>
            <a:off x="457200" y="3273552"/>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1" name="Text 8"/>
          <p:cNvSpPr txBox="1"/>
          <p:nvPr/>
        </p:nvSpPr>
        <p:spPr>
          <a:xfrm>
            <a:off x="1188720" y="3273552"/>
            <a:ext cx="4754880" cy="502920"/>
          </a:xfrm>
          <a:prstGeom prst="rect">
            <a:avLst/>
          </a:prstGeom>
          <a:noFill/>
          <a:ln/>
        </p:spPr>
        <p:txBody>
          <a:bodyPr wrap="square" lIns="0" tIns="0" rIns="0" bIns="0" rtlCol="0" anchor="ctr"/>
          <a:lstStyle/>
          <a:p>
            <a:pPr indent="0" marL="0">
              <a:buNone/>
            </a:pPr>
            <a:r>
              <a:rPr lang="en-US" sz="1800" dirty="0">
                <a:solidFill>
                  <a:schemeClr val="tx1"/>
                </a:solidFill>
              </a:rPr>
              <a:t>Comparing many trials by hand is slow</a:t>
            </a:r>
            <a:endParaRPr lang="en-US" sz="1800" dirty="0"/>
          </a:p>
        </p:txBody>
      </p:sp>
      <p:sp>
        <p:nvSpPr>
          <p:cNvPr id="12" name="num 5"/>
          <p:cNvSpPr/>
          <p:nvPr/>
        </p:nvSpPr>
        <p:spPr>
          <a:xfrm>
            <a:off x="457200" y="3968496"/>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3" name="Text 10"/>
          <p:cNvSpPr txBox="1"/>
          <p:nvPr/>
        </p:nvSpPr>
        <p:spPr>
          <a:xfrm>
            <a:off x="1188720" y="3968496"/>
            <a:ext cx="4754880" cy="502920"/>
          </a:xfrm>
          <a:prstGeom prst="rect">
            <a:avLst/>
          </a:prstGeom>
          <a:noFill/>
          <a:ln/>
        </p:spPr>
        <p:txBody>
          <a:bodyPr wrap="square" lIns="0" tIns="0" rIns="0" bIns="0" rtlCol="0" anchor="ctr"/>
          <a:lstStyle/>
          <a:p>
            <a:pPr indent="0" marL="0">
              <a:buNone/>
            </a:pPr>
            <a:r>
              <a:rPr lang="en-US" sz="1800" dirty="0">
                <a:solidFill>
                  <a:schemeClr val="tx1"/>
                </a:solidFill>
              </a:rPr>
              <a:t>Papers hold lots of unstructured information</a:t>
            </a:r>
            <a:endParaRPr lang="en-US" sz="1800" dirty="0"/>
          </a:p>
        </p:txBody>
      </p:sp>
      <p:sp>
        <p:nvSpPr>
          <p:cNvPr id="14" name="quote"/>
          <p:cNvSpPr/>
          <p:nvPr/>
        </p:nvSpPr>
        <p:spPr>
          <a:xfrm>
            <a:off x="6217920" y="1371600"/>
            <a:ext cx="2468880" cy="2651760"/>
          </a:xfrm>
          <a:prstGeom prst="roundRect">
            <a:avLst>
              <a:gd name="adj" fmla="val 3704"/>
            </a:avLst>
          </a:prstGeom>
          <a:solidFill>
            <a:schemeClr val="bg2"/>
          </a:solidFill>
          <a:ln/>
        </p:spPr>
        <p:txBody>
          <a:bodyPr wrap="square" lIns="127000" tIns="127000" rIns="127000" bIns="127000" rtlCol="0" anchor="ctr"/>
          <a:lstStyle/>
          <a:p>
            <a:pPr algn="ctr" indent="0" marL="0">
              <a:buNone/>
            </a:pPr>
            <a:r>
              <a:rPr lang="en-US" sz="2000" i="1" dirty="0">
                <a:solidFill>
                  <a:schemeClr val="tx2"/>
                </a:solidFill>
              </a:rPr>
              <a:t>"Updated" is not enough.</a:t>
            </a:r>
            <a:endParaRPr lang="en-US" sz="2000" dirty="0"/>
          </a:p>
          <a:p>
            <a:pPr algn="ctr" indent="0" marL="0">
              <a:buNone/>
            </a:pPr>
            <a:r>
              <a:rPr lang="en-US" sz="2000" i="1" dirty="0">
                <a:solidFill>
                  <a:schemeClr val="tx2"/>
                </a:solidFill>
              </a:rPr>
              <a:t>Researchers need to know what changed.</a:t>
            </a:r>
            <a:endParaRPr lang="en-US" sz="2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Project Objective</a:t>
            </a:r>
            <a:endParaRPr lang="en-US" sz="3200" dirty="0"/>
          </a:p>
        </p:txBody>
      </p:sp>
      <p:sp>
        <p:nvSpPr>
          <p:cNvPr id="4" name="card 1"/>
          <p:cNvSpPr/>
          <p:nvPr/>
        </p:nvSpPr>
        <p:spPr>
          <a:xfrm>
            <a:off x="457200" y="1280160"/>
            <a:ext cx="2606040" cy="3017520"/>
          </a:xfrm>
          <a:prstGeom prst="roundRect">
            <a:avLst>
              <a:gd name="adj" fmla="val 3509"/>
            </a:avLst>
          </a:prstGeom>
          <a:solidFill>
            <a:schemeClr val="bg2"/>
          </a:solidFill>
          <a:ln/>
        </p:spPr>
      </p:sp>
      <p:sp>
        <p:nvSpPr>
          <p:cNvPr id="5" name="n 1"/>
          <p:cNvSpPr/>
          <p:nvPr/>
        </p:nvSpPr>
        <p:spPr>
          <a:xfrm>
            <a:off x="685800" y="1508760"/>
            <a:ext cx="548640" cy="54864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 3"/>
          <p:cNvSpPr txBox="1"/>
          <p:nvPr/>
        </p:nvSpPr>
        <p:spPr>
          <a:xfrm>
            <a:off x="685800" y="2240280"/>
            <a:ext cx="2194560" cy="685800"/>
          </a:xfrm>
          <a:prstGeom prst="rect">
            <a:avLst/>
          </a:prstGeom>
          <a:noFill/>
          <a:ln/>
        </p:spPr>
        <p:txBody>
          <a:bodyPr wrap="square" lIns="0" tIns="0" rIns="0" bIns="0" rtlCol="0" anchor="t"/>
          <a:lstStyle/>
          <a:p>
            <a:pPr indent="0" marL="0">
              <a:buNone/>
            </a:pPr>
            <a:r>
              <a:rPr lang="en-US" sz="1800" b="1" dirty="0">
                <a:solidFill>
                  <a:schemeClr val="tx2"/>
                </a:solidFill>
              </a:rPr>
              <a:t>NCT Change Tracking</a:t>
            </a:r>
            <a:endParaRPr lang="en-US" sz="1800" dirty="0"/>
          </a:p>
        </p:txBody>
      </p:sp>
      <p:sp>
        <p:nvSpPr>
          <p:cNvPr id="7" name="Text 4"/>
          <p:cNvSpPr txBox="1"/>
          <p:nvPr/>
        </p:nvSpPr>
        <p:spPr>
          <a:xfrm>
            <a:off x="685800" y="2971800"/>
            <a:ext cx="2194560" cy="1097280"/>
          </a:xfrm>
          <a:prstGeom prst="rect">
            <a:avLst/>
          </a:prstGeom>
          <a:noFill/>
          <a:ln/>
        </p:spPr>
        <p:txBody>
          <a:bodyPr wrap="square" lIns="0" tIns="0" rIns="0" bIns="0" rtlCol="0" anchor="t"/>
          <a:lstStyle/>
          <a:p>
            <a:pPr indent="0" marL="0">
              <a:buNone/>
            </a:pPr>
            <a:r>
              <a:rPr lang="en-US" sz="1400" dirty="0">
                <a:solidFill>
                  <a:schemeClr val="tx1"/>
                </a:solidFill>
              </a:rPr>
              <a:t>Version history and an exact change log: field, old value, new value, date</a:t>
            </a:r>
            <a:endParaRPr lang="en-US" sz="1400" dirty="0"/>
          </a:p>
        </p:txBody>
      </p:sp>
      <p:sp>
        <p:nvSpPr>
          <p:cNvPr id="8" name="card 2"/>
          <p:cNvSpPr/>
          <p:nvPr/>
        </p:nvSpPr>
        <p:spPr>
          <a:xfrm>
            <a:off x="3246120" y="1280160"/>
            <a:ext cx="2606040" cy="3017520"/>
          </a:xfrm>
          <a:prstGeom prst="roundRect">
            <a:avLst>
              <a:gd name="adj" fmla="val 3509"/>
            </a:avLst>
          </a:prstGeom>
          <a:solidFill>
            <a:schemeClr val="bg2"/>
          </a:solidFill>
          <a:ln/>
        </p:spPr>
      </p:sp>
      <p:sp>
        <p:nvSpPr>
          <p:cNvPr id="9" name="n 2"/>
          <p:cNvSpPr/>
          <p:nvPr/>
        </p:nvSpPr>
        <p:spPr>
          <a:xfrm>
            <a:off x="3474720" y="1508760"/>
            <a:ext cx="548640" cy="548640"/>
          </a:xfrm>
          <a:prstGeom prst="ellipse">
            <a:avLst/>
          </a:prstGeom>
          <a:solidFill>
            <a:schemeClr val="accent2"/>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 7"/>
          <p:cNvSpPr txBox="1"/>
          <p:nvPr/>
        </p:nvSpPr>
        <p:spPr>
          <a:xfrm>
            <a:off x="3474720" y="2240280"/>
            <a:ext cx="2194560" cy="685800"/>
          </a:xfrm>
          <a:prstGeom prst="rect">
            <a:avLst/>
          </a:prstGeom>
          <a:noFill/>
          <a:ln/>
        </p:spPr>
        <p:txBody>
          <a:bodyPr wrap="square" lIns="0" tIns="0" rIns="0" bIns="0" rtlCol="0" anchor="t"/>
          <a:lstStyle/>
          <a:p>
            <a:pPr indent="0" marL="0">
              <a:buNone/>
            </a:pPr>
            <a:r>
              <a:rPr lang="en-US" sz="1800" b="1" dirty="0">
                <a:solidFill>
                  <a:schemeClr val="tx2"/>
                </a:solidFill>
              </a:rPr>
              <a:t>PubMed Research Intelligence</a:t>
            </a:r>
            <a:endParaRPr lang="en-US" sz="1800" dirty="0"/>
          </a:p>
        </p:txBody>
      </p:sp>
      <p:sp>
        <p:nvSpPr>
          <p:cNvPr id="11" name="Text 8"/>
          <p:cNvSpPr txBox="1"/>
          <p:nvPr/>
        </p:nvSpPr>
        <p:spPr>
          <a:xfrm>
            <a:off x="3474720" y="2971800"/>
            <a:ext cx="2194560" cy="1097280"/>
          </a:xfrm>
          <a:prstGeom prst="rect">
            <a:avLst/>
          </a:prstGeom>
          <a:noFill/>
          <a:ln/>
        </p:spPr>
        <p:txBody>
          <a:bodyPr wrap="square" lIns="0" tIns="0" rIns="0" bIns="0" rtlCol="0" anchor="t"/>
          <a:lstStyle/>
          <a:p>
            <a:pPr indent="0" marL="0">
              <a:buNone/>
            </a:pPr>
            <a:r>
              <a:rPr lang="en-US" sz="1400" dirty="0">
                <a:solidFill>
                  <a:schemeClr val="tx1"/>
                </a:solidFill>
              </a:rPr>
              <a:t>Search, store and summarize articles and figures</a:t>
            </a:r>
            <a:endParaRPr lang="en-US" sz="1400" dirty="0"/>
          </a:p>
        </p:txBody>
      </p:sp>
      <p:sp>
        <p:nvSpPr>
          <p:cNvPr id="12" name="card 3"/>
          <p:cNvSpPr/>
          <p:nvPr/>
        </p:nvSpPr>
        <p:spPr>
          <a:xfrm>
            <a:off x="6035040" y="1280160"/>
            <a:ext cx="2606040" cy="3017520"/>
          </a:xfrm>
          <a:prstGeom prst="roundRect">
            <a:avLst>
              <a:gd name="adj" fmla="val 3509"/>
            </a:avLst>
          </a:prstGeom>
          <a:solidFill>
            <a:schemeClr val="bg2"/>
          </a:solidFill>
          <a:ln/>
        </p:spPr>
      </p:sp>
      <p:sp>
        <p:nvSpPr>
          <p:cNvPr id="13" name="n 3"/>
          <p:cNvSpPr/>
          <p:nvPr/>
        </p:nvSpPr>
        <p:spPr>
          <a:xfrm>
            <a:off x="6263640" y="1508760"/>
            <a:ext cx="548640" cy="54864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4" name="Text 11"/>
          <p:cNvSpPr txBox="1"/>
          <p:nvPr/>
        </p:nvSpPr>
        <p:spPr>
          <a:xfrm>
            <a:off x="6263640" y="2240280"/>
            <a:ext cx="2194560" cy="685800"/>
          </a:xfrm>
          <a:prstGeom prst="rect">
            <a:avLst/>
          </a:prstGeom>
          <a:noFill/>
          <a:ln/>
        </p:spPr>
        <p:txBody>
          <a:bodyPr wrap="square" lIns="0" tIns="0" rIns="0" bIns="0" rtlCol="0" anchor="t"/>
          <a:lstStyle/>
          <a:p>
            <a:pPr indent="0" marL="0">
              <a:buNone/>
            </a:pPr>
            <a:r>
              <a:rPr lang="en-US" sz="1800" b="1" dirty="0">
                <a:solidFill>
                  <a:schemeClr val="tx2"/>
                </a:solidFill>
              </a:rPr>
              <a:t>Clinical Trial Comparator</a:t>
            </a:r>
            <a:endParaRPr lang="en-US" sz="1800" dirty="0"/>
          </a:p>
        </p:txBody>
      </p:sp>
      <p:sp>
        <p:nvSpPr>
          <p:cNvPr id="15" name="Text 12"/>
          <p:cNvSpPr txBox="1"/>
          <p:nvPr/>
        </p:nvSpPr>
        <p:spPr>
          <a:xfrm>
            <a:off x="6263640" y="2971800"/>
            <a:ext cx="2194560" cy="1097280"/>
          </a:xfrm>
          <a:prstGeom prst="rect">
            <a:avLst/>
          </a:prstGeom>
          <a:noFill/>
          <a:ln/>
        </p:spPr>
        <p:txBody>
          <a:bodyPr wrap="square" lIns="0" tIns="0" rIns="0" bIns="0" rtlCol="0" anchor="t"/>
          <a:lstStyle/>
          <a:p>
            <a:pPr indent="0" marL="0">
              <a:buNone/>
            </a:pPr>
            <a:r>
              <a:rPr lang="en-US" sz="1400" dirty="0">
                <a:solidFill>
                  <a:schemeClr val="tx1"/>
                </a:solidFill>
              </a:rPr>
              <a:t>Drug + indication in, side-by-side trial table out</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Proposed Solution</a:t>
            </a:r>
            <a:endParaRPr lang="en-US" sz="3200" dirty="0"/>
          </a:p>
        </p:txBody>
      </p:sp>
      <p:sp>
        <p:nvSpPr>
          <p:cNvPr id="4" name="Text 1"/>
          <p:cNvSpPr txBox="1"/>
          <p:nvPr/>
        </p:nvSpPr>
        <p:spPr>
          <a:xfrm>
            <a:off x="457200" y="1097280"/>
            <a:ext cx="3657600" cy="274320"/>
          </a:xfrm>
          <a:prstGeom prst="rect">
            <a:avLst/>
          </a:prstGeom>
          <a:noFill/>
          <a:ln/>
        </p:spPr>
        <p:txBody>
          <a:bodyPr wrap="square" lIns="0" tIns="0" rIns="0" bIns="0" rtlCol="0" anchor="ctr"/>
          <a:lstStyle/>
          <a:p>
            <a:pPr indent="0" marL="0">
              <a:buNone/>
            </a:pPr>
            <a:r>
              <a:rPr lang="en-US" sz="1400" b="1" dirty="0">
                <a:solidFill>
                  <a:schemeClr val="accent1"/>
                </a:solidFill>
              </a:rPr>
              <a:t>NCT change log</a:t>
            </a:r>
            <a:endParaRPr lang="en-US" sz="1400" dirty="0"/>
          </a:p>
        </p:txBody>
      </p:sp>
      <p:sp>
        <p:nvSpPr>
          <p:cNvPr id="5" name="box ClinicalTrials.gov"/>
          <p:cNvSpPr/>
          <p:nvPr/>
        </p:nvSpPr>
        <p:spPr>
          <a:xfrm>
            <a:off x="457200" y="1417320"/>
            <a:ext cx="1426464" cy="594360"/>
          </a:xfrm>
          <a:prstGeom prst="roundRect">
            <a:avLst>
              <a:gd name="adj" fmla="val 12308"/>
            </a:avLst>
          </a:prstGeom>
          <a:solidFill>
            <a:schemeClr val="bg2"/>
          </a:solidFill>
          <a:ln/>
        </p:spPr>
        <p:txBody>
          <a:bodyPr wrap="square" lIns="50800" tIns="50800" rIns="50800" bIns="50800" rtlCol="0" anchor="ctr"/>
          <a:lstStyle/>
          <a:p>
            <a:pPr algn="ctr" indent="0" marL="0">
              <a:buNone/>
            </a:pPr>
            <a:r>
              <a:rPr lang="en-US" sz="1200" dirty="0">
                <a:solidFill>
                  <a:schemeClr val="tx1"/>
                </a:solidFill>
              </a:rPr>
              <a:t>ClinicalTrials.gov</a:t>
            </a:r>
            <a:endParaRPr lang="en-US" sz="1200" dirty="0"/>
          </a:p>
        </p:txBody>
      </p:sp>
      <p:sp>
        <p:nvSpPr>
          <p:cNvPr id="6" name="Shape 3"/>
          <p:cNvSpPr/>
          <p:nvPr/>
        </p:nvSpPr>
        <p:spPr>
          <a:xfrm>
            <a:off x="1901952" y="1714500"/>
            <a:ext cx="237744" cy="0"/>
          </a:xfrm>
          <a:prstGeom prst="line">
            <a:avLst/>
          </a:prstGeom>
          <a:noFill/>
          <a:ln w="22225">
            <a:solidFill>
              <a:schemeClr val="accent6"/>
            </a:solidFill>
            <a:prstDash val="solid"/>
            <a:tailEnd type="triangle"/>
          </a:ln>
        </p:spPr>
      </p:sp>
      <p:sp>
        <p:nvSpPr>
          <p:cNvPr id="7" name="box NCT Parser"/>
          <p:cNvSpPr/>
          <p:nvPr/>
        </p:nvSpPr>
        <p:spPr>
          <a:xfrm>
            <a:off x="2157984" y="1417320"/>
            <a:ext cx="1426464" cy="594360"/>
          </a:xfrm>
          <a:prstGeom prst="roundRect">
            <a:avLst>
              <a:gd name="adj" fmla="val 12308"/>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NCT Parser</a:t>
            </a:r>
            <a:endParaRPr lang="en-US" sz="1200" dirty="0"/>
          </a:p>
        </p:txBody>
      </p:sp>
      <p:sp>
        <p:nvSpPr>
          <p:cNvPr id="8" name="Shape 5"/>
          <p:cNvSpPr/>
          <p:nvPr/>
        </p:nvSpPr>
        <p:spPr>
          <a:xfrm>
            <a:off x="3602736" y="1714500"/>
            <a:ext cx="237744" cy="0"/>
          </a:xfrm>
          <a:prstGeom prst="line">
            <a:avLst/>
          </a:prstGeom>
          <a:noFill/>
          <a:ln w="22225">
            <a:solidFill>
              <a:schemeClr val="accent6"/>
            </a:solidFill>
            <a:prstDash val="solid"/>
            <a:tailEnd type="triangle"/>
          </a:ln>
        </p:spPr>
      </p:sp>
      <p:sp>
        <p:nvSpPr>
          <p:cNvPr id="9" name="box SQLite"/>
          <p:cNvSpPr/>
          <p:nvPr/>
        </p:nvSpPr>
        <p:spPr>
          <a:xfrm>
            <a:off x="3858768" y="1417320"/>
            <a:ext cx="1426464" cy="594360"/>
          </a:xfrm>
          <a:prstGeom prst="roundRect">
            <a:avLst>
              <a:gd name="adj" fmla="val 12308"/>
            </a:avLst>
          </a:prstGeom>
          <a:solidFill>
            <a:schemeClr val="tx2"/>
          </a:solidFill>
          <a:ln/>
        </p:spPr>
        <p:txBody>
          <a:bodyPr wrap="square" lIns="50800" tIns="50800" rIns="50800" bIns="50800" rtlCol="0" anchor="ctr"/>
          <a:lstStyle/>
          <a:p>
            <a:pPr algn="ctr" indent="0" marL="0">
              <a:buNone/>
            </a:pPr>
            <a:r>
              <a:rPr lang="en-US" sz="1200" dirty="0">
                <a:solidFill>
                  <a:schemeClr val="bg1"/>
                </a:solidFill>
              </a:rPr>
              <a:t>SQLite</a:t>
            </a:r>
            <a:endParaRPr lang="en-US" sz="1200" dirty="0"/>
          </a:p>
        </p:txBody>
      </p:sp>
      <p:sp>
        <p:nvSpPr>
          <p:cNvPr id="10" name="Shape 7"/>
          <p:cNvSpPr/>
          <p:nvPr/>
        </p:nvSpPr>
        <p:spPr>
          <a:xfrm>
            <a:off x="5303520" y="1714500"/>
            <a:ext cx="237744" cy="0"/>
          </a:xfrm>
          <a:prstGeom prst="line">
            <a:avLst/>
          </a:prstGeom>
          <a:noFill/>
          <a:ln w="22225">
            <a:solidFill>
              <a:schemeClr val="accent6"/>
            </a:solidFill>
            <a:prstDash val="solid"/>
            <a:tailEnd type="triangle"/>
          </a:ln>
        </p:spPr>
      </p:sp>
      <p:sp>
        <p:nvSpPr>
          <p:cNvPr id="11" name="box Version Comparison"/>
          <p:cNvSpPr/>
          <p:nvPr/>
        </p:nvSpPr>
        <p:spPr>
          <a:xfrm>
            <a:off x="5559552" y="1417320"/>
            <a:ext cx="1426464" cy="594360"/>
          </a:xfrm>
          <a:prstGeom prst="roundRect">
            <a:avLst>
              <a:gd name="adj" fmla="val 12308"/>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Version Comparison</a:t>
            </a:r>
            <a:endParaRPr lang="en-US" sz="1200" dirty="0"/>
          </a:p>
        </p:txBody>
      </p:sp>
      <p:sp>
        <p:nvSpPr>
          <p:cNvPr id="12" name="Shape 9"/>
          <p:cNvSpPr/>
          <p:nvPr/>
        </p:nvSpPr>
        <p:spPr>
          <a:xfrm>
            <a:off x="7004304" y="1714500"/>
            <a:ext cx="237744" cy="0"/>
          </a:xfrm>
          <a:prstGeom prst="line">
            <a:avLst/>
          </a:prstGeom>
          <a:noFill/>
          <a:ln w="22225">
            <a:solidFill>
              <a:schemeClr val="accent6"/>
            </a:solidFill>
            <a:prstDash val="solid"/>
            <a:tailEnd type="triangle"/>
          </a:ln>
        </p:spPr>
      </p:sp>
      <p:sp>
        <p:nvSpPr>
          <p:cNvPr id="13" name="box Change Log"/>
          <p:cNvSpPr/>
          <p:nvPr/>
        </p:nvSpPr>
        <p:spPr>
          <a:xfrm>
            <a:off x="7260336" y="1417320"/>
            <a:ext cx="1426464" cy="594360"/>
          </a:xfrm>
          <a:prstGeom prst="roundRect">
            <a:avLst>
              <a:gd name="adj" fmla="val 12308"/>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Change Log</a:t>
            </a:r>
            <a:endParaRPr lang="en-US" sz="1200" dirty="0"/>
          </a:p>
        </p:txBody>
      </p:sp>
      <p:sp>
        <p:nvSpPr>
          <p:cNvPr id="14" name="Text 11"/>
          <p:cNvSpPr txBox="1"/>
          <p:nvPr/>
        </p:nvSpPr>
        <p:spPr>
          <a:xfrm>
            <a:off x="457200" y="2286000"/>
            <a:ext cx="3657600" cy="274320"/>
          </a:xfrm>
          <a:prstGeom prst="rect">
            <a:avLst/>
          </a:prstGeom>
          <a:noFill/>
          <a:ln/>
        </p:spPr>
        <p:txBody>
          <a:bodyPr wrap="square" lIns="0" tIns="0" rIns="0" bIns="0" rtlCol="0" anchor="ctr"/>
          <a:lstStyle/>
          <a:p>
            <a:pPr indent="0" marL="0">
              <a:buNone/>
            </a:pPr>
            <a:r>
              <a:rPr lang="en-US" sz="1400" b="1" dirty="0">
                <a:solidFill>
                  <a:schemeClr val="accent1"/>
                </a:solidFill>
              </a:rPr>
              <a:t>PubMed intelligence</a:t>
            </a:r>
            <a:endParaRPr lang="en-US" sz="1400" dirty="0"/>
          </a:p>
        </p:txBody>
      </p:sp>
      <p:sp>
        <p:nvSpPr>
          <p:cNvPr id="15" name="box PubMed"/>
          <p:cNvSpPr/>
          <p:nvPr/>
        </p:nvSpPr>
        <p:spPr>
          <a:xfrm>
            <a:off x="457200" y="2606040"/>
            <a:ext cx="1426464" cy="594360"/>
          </a:xfrm>
          <a:prstGeom prst="roundRect">
            <a:avLst>
              <a:gd name="adj" fmla="val 12308"/>
            </a:avLst>
          </a:prstGeom>
          <a:solidFill>
            <a:schemeClr val="bg2"/>
          </a:solidFill>
          <a:ln/>
        </p:spPr>
        <p:txBody>
          <a:bodyPr wrap="square" lIns="50800" tIns="50800" rIns="50800" bIns="50800" rtlCol="0" anchor="ctr"/>
          <a:lstStyle/>
          <a:p>
            <a:pPr algn="ctr" indent="0" marL="0">
              <a:buNone/>
            </a:pPr>
            <a:r>
              <a:rPr lang="en-US" sz="1200" dirty="0">
                <a:solidFill>
                  <a:schemeClr val="tx1"/>
                </a:solidFill>
              </a:rPr>
              <a:t>PubMed</a:t>
            </a:r>
            <a:endParaRPr lang="en-US" sz="1200" dirty="0"/>
          </a:p>
        </p:txBody>
      </p:sp>
      <p:sp>
        <p:nvSpPr>
          <p:cNvPr id="16" name="Shape 13"/>
          <p:cNvSpPr/>
          <p:nvPr/>
        </p:nvSpPr>
        <p:spPr>
          <a:xfrm>
            <a:off x="1901952" y="2903220"/>
            <a:ext cx="237744" cy="0"/>
          </a:xfrm>
          <a:prstGeom prst="line">
            <a:avLst/>
          </a:prstGeom>
          <a:noFill/>
          <a:ln w="22225">
            <a:solidFill>
              <a:schemeClr val="accent6"/>
            </a:solidFill>
            <a:prstDash val="solid"/>
            <a:tailEnd type="triangle"/>
          </a:ln>
        </p:spPr>
      </p:sp>
      <p:sp>
        <p:nvSpPr>
          <p:cNvPr id="17" name="box Article Extraction"/>
          <p:cNvSpPr/>
          <p:nvPr/>
        </p:nvSpPr>
        <p:spPr>
          <a:xfrm>
            <a:off x="2157984" y="2606040"/>
            <a:ext cx="1426464" cy="594360"/>
          </a:xfrm>
          <a:prstGeom prst="roundRect">
            <a:avLst>
              <a:gd name="adj" fmla="val 12308"/>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Article Extraction</a:t>
            </a:r>
            <a:endParaRPr lang="en-US" sz="1200" dirty="0"/>
          </a:p>
        </p:txBody>
      </p:sp>
      <p:sp>
        <p:nvSpPr>
          <p:cNvPr id="18" name="Shape 15"/>
          <p:cNvSpPr/>
          <p:nvPr/>
        </p:nvSpPr>
        <p:spPr>
          <a:xfrm>
            <a:off x="3602736" y="2903220"/>
            <a:ext cx="237744" cy="0"/>
          </a:xfrm>
          <a:prstGeom prst="line">
            <a:avLst/>
          </a:prstGeom>
          <a:noFill/>
          <a:ln w="22225">
            <a:solidFill>
              <a:schemeClr val="accent6"/>
            </a:solidFill>
            <a:prstDash val="solid"/>
            <a:tailEnd type="triangle"/>
          </a:ln>
        </p:spPr>
      </p:sp>
      <p:sp>
        <p:nvSpPr>
          <p:cNvPr id="19" name="box SQLite"/>
          <p:cNvSpPr/>
          <p:nvPr/>
        </p:nvSpPr>
        <p:spPr>
          <a:xfrm>
            <a:off x="3858768" y="2606040"/>
            <a:ext cx="1426464" cy="594360"/>
          </a:xfrm>
          <a:prstGeom prst="roundRect">
            <a:avLst>
              <a:gd name="adj" fmla="val 12308"/>
            </a:avLst>
          </a:prstGeom>
          <a:solidFill>
            <a:schemeClr val="tx2"/>
          </a:solidFill>
          <a:ln/>
        </p:spPr>
        <p:txBody>
          <a:bodyPr wrap="square" lIns="50800" tIns="50800" rIns="50800" bIns="50800" rtlCol="0" anchor="ctr"/>
          <a:lstStyle/>
          <a:p>
            <a:pPr algn="ctr" indent="0" marL="0">
              <a:buNone/>
            </a:pPr>
            <a:r>
              <a:rPr lang="en-US" sz="1200" dirty="0">
                <a:solidFill>
                  <a:schemeClr val="bg1"/>
                </a:solidFill>
              </a:rPr>
              <a:t>SQLite</a:t>
            </a:r>
            <a:endParaRPr lang="en-US" sz="1200" dirty="0"/>
          </a:p>
        </p:txBody>
      </p:sp>
      <p:sp>
        <p:nvSpPr>
          <p:cNvPr id="20" name="Shape 17"/>
          <p:cNvSpPr/>
          <p:nvPr/>
        </p:nvSpPr>
        <p:spPr>
          <a:xfrm>
            <a:off x="5303520" y="2903220"/>
            <a:ext cx="237744" cy="0"/>
          </a:xfrm>
          <a:prstGeom prst="line">
            <a:avLst/>
          </a:prstGeom>
          <a:noFill/>
          <a:ln w="22225">
            <a:solidFill>
              <a:schemeClr val="accent6"/>
            </a:solidFill>
            <a:prstDash val="solid"/>
            <a:tailEnd type="triangle"/>
          </a:ln>
        </p:spPr>
      </p:sp>
      <p:sp>
        <p:nvSpPr>
          <p:cNvPr id="21" name="box Groq AI"/>
          <p:cNvSpPr/>
          <p:nvPr/>
        </p:nvSpPr>
        <p:spPr>
          <a:xfrm>
            <a:off x="5559552" y="2606040"/>
            <a:ext cx="1426464" cy="594360"/>
          </a:xfrm>
          <a:prstGeom prst="roundRect">
            <a:avLst>
              <a:gd name="adj" fmla="val 12308"/>
            </a:avLst>
          </a:prstGeom>
          <a:solidFill>
            <a:schemeClr val="accent2"/>
          </a:solidFill>
          <a:ln/>
        </p:spPr>
        <p:txBody>
          <a:bodyPr wrap="square" lIns="50800" tIns="50800" rIns="50800" bIns="50800" rtlCol="0" anchor="ctr"/>
          <a:lstStyle/>
          <a:p>
            <a:pPr algn="ctr" indent="0" marL="0">
              <a:buNone/>
            </a:pPr>
            <a:r>
              <a:rPr lang="en-US" sz="1200" dirty="0">
                <a:solidFill>
                  <a:schemeClr val="bg1"/>
                </a:solidFill>
              </a:rPr>
              <a:t>Groq AI</a:t>
            </a:r>
            <a:endParaRPr lang="en-US" sz="1200" dirty="0"/>
          </a:p>
        </p:txBody>
      </p:sp>
      <p:sp>
        <p:nvSpPr>
          <p:cNvPr id="22" name="Shape 19"/>
          <p:cNvSpPr/>
          <p:nvPr/>
        </p:nvSpPr>
        <p:spPr>
          <a:xfrm>
            <a:off x="7004304" y="2903220"/>
            <a:ext cx="237744" cy="0"/>
          </a:xfrm>
          <a:prstGeom prst="line">
            <a:avLst/>
          </a:prstGeom>
          <a:noFill/>
          <a:ln w="22225">
            <a:solidFill>
              <a:schemeClr val="accent6"/>
            </a:solidFill>
            <a:prstDash val="solid"/>
            <a:tailEnd type="triangle"/>
          </a:ln>
        </p:spPr>
      </p:sp>
      <p:sp>
        <p:nvSpPr>
          <p:cNvPr id="23" name="box Research Summary"/>
          <p:cNvSpPr/>
          <p:nvPr/>
        </p:nvSpPr>
        <p:spPr>
          <a:xfrm>
            <a:off x="7260336" y="2606040"/>
            <a:ext cx="1426464" cy="594360"/>
          </a:xfrm>
          <a:prstGeom prst="roundRect">
            <a:avLst>
              <a:gd name="adj" fmla="val 12308"/>
            </a:avLst>
          </a:prstGeom>
          <a:solidFill>
            <a:schemeClr val="accent2"/>
          </a:solidFill>
          <a:ln/>
        </p:spPr>
        <p:txBody>
          <a:bodyPr wrap="square" lIns="50800" tIns="50800" rIns="50800" bIns="50800" rtlCol="0" anchor="ctr"/>
          <a:lstStyle/>
          <a:p>
            <a:pPr algn="ctr" indent="0" marL="0">
              <a:buNone/>
            </a:pPr>
            <a:r>
              <a:rPr lang="en-US" sz="1200" dirty="0">
                <a:solidFill>
                  <a:schemeClr val="bg1"/>
                </a:solidFill>
              </a:rPr>
              <a:t>Research Summary</a:t>
            </a:r>
            <a:endParaRPr lang="en-US" sz="1200" dirty="0"/>
          </a:p>
        </p:txBody>
      </p:sp>
      <p:sp>
        <p:nvSpPr>
          <p:cNvPr id="24" name="Text 21"/>
          <p:cNvSpPr txBox="1"/>
          <p:nvPr/>
        </p:nvSpPr>
        <p:spPr>
          <a:xfrm>
            <a:off x="457200" y="3474720"/>
            <a:ext cx="3657600" cy="274320"/>
          </a:xfrm>
          <a:prstGeom prst="rect">
            <a:avLst/>
          </a:prstGeom>
          <a:noFill/>
          <a:ln/>
        </p:spPr>
        <p:txBody>
          <a:bodyPr wrap="square" lIns="0" tIns="0" rIns="0" bIns="0" rtlCol="0" anchor="ctr"/>
          <a:lstStyle/>
          <a:p>
            <a:pPr indent="0" marL="0">
              <a:buNone/>
            </a:pPr>
            <a:r>
              <a:rPr lang="en-US" sz="1400" b="1" dirty="0">
                <a:solidFill>
                  <a:schemeClr val="accent1"/>
                </a:solidFill>
              </a:rPr>
              <a:t>Trial comparator</a:t>
            </a:r>
            <a:endParaRPr lang="en-US" sz="1400" dirty="0"/>
          </a:p>
        </p:txBody>
      </p:sp>
      <p:sp>
        <p:nvSpPr>
          <p:cNvPr id="25" name="box ClinicalTrials.gov"/>
          <p:cNvSpPr/>
          <p:nvPr/>
        </p:nvSpPr>
        <p:spPr>
          <a:xfrm>
            <a:off x="457200" y="3794760"/>
            <a:ext cx="1426464" cy="594360"/>
          </a:xfrm>
          <a:prstGeom prst="roundRect">
            <a:avLst>
              <a:gd name="adj" fmla="val 12308"/>
            </a:avLst>
          </a:prstGeom>
          <a:solidFill>
            <a:schemeClr val="bg2"/>
          </a:solidFill>
          <a:ln/>
        </p:spPr>
        <p:txBody>
          <a:bodyPr wrap="square" lIns="50800" tIns="50800" rIns="50800" bIns="50800" rtlCol="0" anchor="ctr"/>
          <a:lstStyle/>
          <a:p>
            <a:pPr algn="ctr" indent="0" marL="0">
              <a:buNone/>
            </a:pPr>
            <a:r>
              <a:rPr lang="en-US" sz="1200" dirty="0">
                <a:solidFill>
                  <a:schemeClr val="tx1"/>
                </a:solidFill>
              </a:rPr>
              <a:t>ClinicalTrials.gov</a:t>
            </a:r>
            <a:endParaRPr lang="en-US" sz="1200" dirty="0"/>
          </a:p>
        </p:txBody>
      </p:sp>
      <p:sp>
        <p:nvSpPr>
          <p:cNvPr id="26" name="Shape 23"/>
          <p:cNvSpPr/>
          <p:nvPr/>
        </p:nvSpPr>
        <p:spPr>
          <a:xfrm>
            <a:off x="1901952" y="4091940"/>
            <a:ext cx="237744" cy="0"/>
          </a:xfrm>
          <a:prstGeom prst="line">
            <a:avLst/>
          </a:prstGeom>
          <a:noFill/>
          <a:ln w="22225">
            <a:solidFill>
              <a:schemeClr val="accent6"/>
            </a:solidFill>
            <a:prstDash val="solid"/>
            <a:tailEnd type="triangle"/>
          </a:ln>
        </p:spPr>
      </p:sp>
      <p:sp>
        <p:nvSpPr>
          <p:cNvPr id="27" name="box Trial Extraction"/>
          <p:cNvSpPr/>
          <p:nvPr/>
        </p:nvSpPr>
        <p:spPr>
          <a:xfrm>
            <a:off x="2157984" y="3794760"/>
            <a:ext cx="1426464" cy="594360"/>
          </a:xfrm>
          <a:prstGeom prst="roundRect">
            <a:avLst>
              <a:gd name="adj" fmla="val 12308"/>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Trial Extraction</a:t>
            </a:r>
            <a:endParaRPr lang="en-US" sz="1200" dirty="0"/>
          </a:p>
        </p:txBody>
      </p:sp>
      <p:sp>
        <p:nvSpPr>
          <p:cNvPr id="28" name="Shape 25"/>
          <p:cNvSpPr/>
          <p:nvPr/>
        </p:nvSpPr>
        <p:spPr>
          <a:xfrm>
            <a:off x="3602736" y="4091940"/>
            <a:ext cx="237744" cy="0"/>
          </a:xfrm>
          <a:prstGeom prst="line">
            <a:avLst/>
          </a:prstGeom>
          <a:noFill/>
          <a:ln w="22225">
            <a:solidFill>
              <a:schemeClr val="accent6"/>
            </a:solidFill>
            <a:prstDash val="solid"/>
            <a:tailEnd type="triangle"/>
          </a:ln>
        </p:spPr>
      </p:sp>
      <p:sp>
        <p:nvSpPr>
          <p:cNvPr id="29" name="box SQLite"/>
          <p:cNvSpPr/>
          <p:nvPr/>
        </p:nvSpPr>
        <p:spPr>
          <a:xfrm>
            <a:off x="3858768" y="3794760"/>
            <a:ext cx="1426464" cy="594360"/>
          </a:xfrm>
          <a:prstGeom prst="roundRect">
            <a:avLst>
              <a:gd name="adj" fmla="val 12308"/>
            </a:avLst>
          </a:prstGeom>
          <a:solidFill>
            <a:schemeClr val="tx2"/>
          </a:solidFill>
          <a:ln/>
        </p:spPr>
        <p:txBody>
          <a:bodyPr wrap="square" lIns="50800" tIns="50800" rIns="50800" bIns="50800" rtlCol="0" anchor="ctr"/>
          <a:lstStyle/>
          <a:p>
            <a:pPr algn="ctr" indent="0" marL="0">
              <a:buNone/>
            </a:pPr>
            <a:r>
              <a:rPr lang="en-US" sz="1200" dirty="0">
                <a:solidFill>
                  <a:schemeClr val="bg1"/>
                </a:solidFill>
              </a:rPr>
              <a:t>SQLite</a:t>
            </a:r>
            <a:endParaRPr lang="en-US" sz="1200" dirty="0"/>
          </a:p>
        </p:txBody>
      </p:sp>
      <p:sp>
        <p:nvSpPr>
          <p:cNvPr id="30" name="Shape 27"/>
          <p:cNvSpPr/>
          <p:nvPr/>
        </p:nvSpPr>
        <p:spPr>
          <a:xfrm>
            <a:off x="5303520" y="4091940"/>
            <a:ext cx="237744" cy="0"/>
          </a:xfrm>
          <a:prstGeom prst="line">
            <a:avLst/>
          </a:prstGeom>
          <a:noFill/>
          <a:ln w="22225">
            <a:solidFill>
              <a:schemeClr val="accent6"/>
            </a:solidFill>
            <a:prstDash val="solid"/>
            <a:tailEnd type="triangle"/>
          </a:ln>
        </p:spPr>
      </p:sp>
      <p:sp>
        <p:nvSpPr>
          <p:cNvPr id="31" name="box Groq Understanding"/>
          <p:cNvSpPr/>
          <p:nvPr/>
        </p:nvSpPr>
        <p:spPr>
          <a:xfrm>
            <a:off x="5559552" y="3794760"/>
            <a:ext cx="1426464" cy="594360"/>
          </a:xfrm>
          <a:prstGeom prst="roundRect">
            <a:avLst>
              <a:gd name="adj" fmla="val 12308"/>
            </a:avLst>
          </a:prstGeom>
          <a:solidFill>
            <a:schemeClr val="accent2"/>
          </a:solidFill>
          <a:ln/>
        </p:spPr>
        <p:txBody>
          <a:bodyPr wrap="square" lIns="50800" tIns="50800" rIns="50800" bIns="50800" rtlCol="0" anchor="ctr"/>
          <a:lstStyle/>
          <a:p>
            <a:pPr algn="ctr" indent="0" marL="0">
              <a:buNone/>
            </a:pPr>
            <a:r>
              <a:rPr lang="en-US" sz="1200" dirty="0">
                <a:solidFill>
                  <a:schemeClr val="bg1"/>
                </a:solidFill>
              </a:rPr>
              <a:t>Groq Understanding</a:t>
            </a:r>
            <a:endParaRPr lang="en-US" sz="1200" dirty="0"/>
          </a:p>
        </p:txBody>
      </p:sp>
      <p:sp>
        <p:nvSpPr>
          <p:cNvPr id="32" name="Shape 29"/>
          <p:cNvSpPr/>
          <p:nvPr/>
        </p:nvSpPr>
        <p:spPr>
          <a:xfrm>
            <a:off x="7004304" y="4091940"/>
            <a:ext cx="237744" cy="0"/>
          </a:xfrm>
          <a:prstGeom prst="line">
            <a:avLst/>
          </a:prstGeom>
          <a:noFill/>
          <a:ln w="22225">
            <a:solidFill>
              <a:schemeClr val="accent6"/>
            </a:solidFill>
            <a:prstDash val="solid"/>
            <a:tailEnd type="triangle"/>
          </a:ln>
        </p:spPr>
      </p:sp>
      <p:sp>
        <p:nvSpPr>
          <p:cNvPr id="33" name="box Trial Comparison"/>
          <p:cNvSpPr/>
          <p:nvPr/>
        </p:nvSpPr>
        <p:spPr>
          <a:xfrm>
            <a:off x="7260336" y="3794760"/>
            <a:ext cx="1426464" cy="594360"/>
          </a:xfrm>
          <a:prstGeom prst="roundRect">
            <a:avLst>
              <a:gd name="adj" fmla="val 12308"/>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Trial Comparison</a:t>
            </a:r>
            <a:endParaRPr lang="en-US" sz="1200" dirty="0"/>
          </a:p>
        </p:txBody>
      </p:sp>
      <p:sp>
        <p:nvSpPr>
          <p:cNvPr id="34" name="box Plain Python (no A"/>
          <p:cNvSpPr/>
          <p:nvPr/>
        </p:nvSpPr>
        <p:spPr>
          <a:xfrm>
            <a:off x="457200" y="4572000"/>
            <a:ext cx="1737360" cy="292608"/>
          </a:xfrm>
          <a:prstGeom prst="roundRect">
            <a:avLst>
              <a:gd name="adj" fmla="val 25000"/>
            </a:avLst>
          </a:prstGeom>
          <a:solidFill>
            <a:schemeClr val="accent1"/>
          </a:solidFill>
          <a:ln/>
        </p:spPr>
        <p:txBody>
          <a:bodyPr wrap="square" lIns="50800" tIns="50800" rIns="50800" bIns="50800" rtlCol="0" anchor="ctr"/>
          <a:lstStyle/>
          <a:p>
            <a:pPr algn="ctr" indent="0" marL="0">
              <a:buNone/>
            </a:pPr>
            <a:r>
              <a:rPr lang="en-US" sz="1100" dirty="0">
                <a:solidFill>
                  <a:schemeClr val="bg1"/>
                </a:solidFill>
              </a:rPr>
              <a:t>Plain Python (no AI)</a:t>
            </a:r>
            <a:endParaRPr lang="en-US" sz="1100" dirty="0"/>
          </a:p>
        </p:txBody>
      </p:sp>
      <p:sp>
        <p:nvSpPr>
          <p:cNvPr id="35" name="box Groq AI"/>
          <p:cNvSpPr/>
          <p:nvPr/>
        </p:nvSpPr>
        <p:spPr>
          <a:xfrm>
            <a:off x="2331720" y="4572000"/>
            <a:ext cx="1005840" cy="292608"/>
          </a:xfrm>
          <a:prstGeom prst="roundRect">
            <a:avLst>
              <a:gd name="adj" fmla="val 25000"/>
            </a:avLst>
          </a:prstGeom>
          <a:solidFill>
            <a:schemeClr val="accent2"/>
          </a:solidFill>
          <a:ln/>
        </p:spPr>
        <p:txBody>
          <a:bodyPr wrap="square" lIns="50800" tIns="50800" rIns="50800" bIns="50800" rtlCol="0" anchor="ctr"/>
          <a:lstStyle/>
          <a:p>
            <a:pPr algn="ctr" indent="0" marL="0">
              <a:buNone/>
            </a:pPr>
            <a:r>
              <a:rPr lang="en-US" sz="1100" dirty="0">
                <a:solidFill>
                  <a:schemeClr val="bg1"/>
                </a:solidFill>
              </a:rPr>
              <a:t>Groq AI</a:t>
            </a:r>
            <a:endParaRPr lang="en-US" sz="11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Overall Architecture</a:t>
            </a:r>
            <a:endParaRPr lang="en-US" sz="3200" dirty="0"/>
          </a:p>
        </p:txBody>
      </p:sp>
      <p:sp>
        <p:nvSpPr>
          <p:cNvPr id="4" name="box User"/>
          <p:cNvSpPr/>
          <p:nvPr/>
        </p:nvSpPr>
        <p:spPr>
          <a:xfrm>
            <a:off x="457200" y="1097280"/>
            <a:ext cx="1097280" cy="411480"/>
          </a:xfrm>
          <a:prstGeom prst="roundRect">
            <a:avLst>
              <a:gd name="adj" fmla="val 17778"/>
            </a:avLst>
          </a:prstGeom>
          <a:solidFill>
            <a:schemeClr val="bg2"/>
          </a:solidFill>
          <a:ln/>
        </p:spPr>
        <p:txBody>
          <a:bodyPr wrap="square" lIns="50800" tIns="50800" rIns="50800" bIns="50800" rtlCol="0" anchor="ctr"/>
          <a:lstStyle/>
          <a:p>
            <a:pPr algn="ctr" indent="0" marL="0">
              <a:buNone/>
            </a:pPr>
            <a:r>
              <a:rPr lang="en-US" sz="1300" dirty="0">
                <a:solidFill>
                  <a:schemeClr val="tx1"/>
                </a:solidFill>
              </a:rPr>
              <a:t>User</a:t>
            </a:r>
            <a:endParaRPr lang="en-US" sz="1300" dirty="0"/>
          </a:p>
        </p:txBody>
      </p:sp>
      <p:sp>
        <p:nvSpPr>
          <p:cNvPr id="5" name="Shape 2"/>
          <p:cNvSpPr/>
          <p:nvPr/>
        </p:nvSpPr>
        <p:spPr>
          <a:xfrm>
            <a:off x="1572768" y="1307592"/>
            <a:ext cx="347472" cy="0"/>
          </a:xfrm>
          <a:prstGeom prst="line">
            <a:avLst/>
          </a:prstGeom>
          <a:noFill/>
          <a:ln w="22225">
            <a:solidFill>
              <a:schemeClr val="accent6"/>
            </a:solidFill>
            <a:prstDash val="solid"/>
            <a:tailEnd type="triangle"/>
          </a:ln>
        </p:spPr>
      </p:sp>
      <p:sp>
        <p:nvSpPr>
          <p:cNvPr id="6" name="box HTML / JS UI"/>
          <p:cNvSpPr/>
          <p:nvPr/>
        </p:nvSpPr>
        <p:spPr>
          <a:xfrm>
            <a:off x="1938528" y="1097280"/>
            <a:ext cx="1554480" cy="411480"/>
          </a:xfrm>
          <a:prstGeom prst="roundRect">
            <a:avLst>
              <a:gd name="adj" fmla="val 17778"/>
            </a:avLst>
          </a:prstGeom>
          <a:solidFill>
            <a:schemeClr val="bg2"/>
          </a:solidFill>
          <a:ln/>
        </p:spPr>
        <p:txBody>
          <a:bodyPr wrap="square" lIns="50800" tIns="50800" rIns="50800" bIns="50800" rtlCol="0" anchor="ctr"/>
          <a:lstStyle/>
          <a:p>
            <a:pPr algn="ctr" indent="0" marL="0">
              <a:buNone/>
            </a:pPr>
            <a:r>
              <a:rPr lang="en-US" sz="1300" dirty="0">
                <a:solidFill>
                  <a:schemeClr val="tx1"/>
                </a:solidFill>
              </a:rPr>
              <a:t>HTML / JS UI</a:t>
            </a:r>
            <a:endParaRPr lang="en-US" sz="1300" dirty="0"/>
          </a:p>
        </p:txBody>
      </p:sp>
      <p:sp>
        <p:nvSpPr>
          <p:cNvPr id="7" name="Shape 4"/>
          <p:cNvSpPr/>
          <p:nvPr/>
        </p:nvSpPr>
        <p:spPr>
          <a:xfrm>
            <a:off x="3511296" y="1307592"/>
            <a:ext cx="329184" cy="0"/>
          </a:xfrm>
          <a:prstGeom prst="line">
            <a:avLst/>
          </a:prstGeom>
          <a:noFill/>
          <a:ln w="22225">
            <a:solidFill>
              <a:schemeClr val="accent6"/>
            </a:solidFill>
            <a:prstDash val="solid"/>
            <a:tailEnd type="triangle"/>
          </a:ln>
        </p:spPr>
      </p:sp>
      <p:sp>
        <p:nvSpPr>
          <p:cNvPr id="8" name="box FastAPI"/>
          <p:cNvSpPr/>
          <p:nvPr/>
        </p:nvSpPr>
        <p:spPr>
          <a:xfrm>
            <a:off x="3858768" y="1097280"/>
            <a:ext cx="1371600" cy="411480"/>
          </a:xfrm>
          <a:prstGeom prst="roundRect">
            <a:avLst>
              <a:gd name="adj" fmla="val 17778"/>
            </a:avLst>
          </a:prstGeom>
          <a:solidFill>
            <a:schemeClr val="accent1"/>
          </a:solidFill>
          <a:ln/>
        </p:spPr>
        <p:txBody>
          <a:bodyPr wrap="square" lIns="50800" tIns="50800" rIns="50800" bIns="50800" rtlCol="0" anchor="ctr"/>
          <a:lstStyle/>
          <a:p>
            <a:pPr algn="ctr" indent="0" marL="0">
              <a:buNone/>
            </a:pPr>
            <a:r>
              <a:rPr lang="en-US" sz="1300" dirty="0">
                <a:solidFill>
                  <a:schemeClr val="bg1"/>
                </a:solidFill>
              </a:rPr>
              <a:t>FastAPI</a:t>
            </a:r>
            <a:endParaRPr lang="en-US" sz="1300" dirty="0"/>
          </a:p>
        </p:txBody>
      </p:sp>
      <p:sp>
        <p:nvSpPr>
          <p:cNvPr id="9" name="box Plain Python (no A"/>
          <p:cNvSpPr/>
          <p:nvPr/>
        </p:nvSpPr>
        <p:spPr>
          <a:xfrm>
            <a:off x="5760720" y="1161288"/>
            <a:ext cx="1737360" cy="292608"/>
          </a:xfrm>
          <a:prstGeom prst="roundRect">
            <a:avLst>
              <a:gd name="adj" fmla="val 25000"/>
            </a:avLst>
          </a:prstGeom>
          <a:solidFill>
            <a:schemeClr val="accent1"/>
          </a:solidFill>
          <a:ln/>
        </p:spPr>
        <p:txBody>
          <a:bodyPr wrap="square" lIns="50800" tIns="50800" rIns="50800" bIns="50800" rtlCol="0" anchor="ctr"/>
          <a:lstStyle/>
          <a:p>
            <a:pPr algn="ctr" indent="0" marL="0">
              <a:buNone/>
            </a:pPr>
            <a:r>
              <a:rPr lang="en-US" sz="1100" dirty="0">
                <a:solidFill>
                  <a:schemeClr val="bg1"/>
                </a:solidFill>
              </a:rPr>
              <a:t>Plain Python (no AI)</a:t>
            </a:r>
            <a:endParaRPr lang="en-US" sz="1100" dirty="0"/>
          </a:p>
        </p:txBody>
      </p:sp>
      <p:sp>
        <p:nvSpPr>
          <p:cNvPr id="10" name="box Groq AI"/>
          <p:cNvSpPr/>
          <p:nvPr/>
        </p:nvSpPr>
        <p:spPr>
          <a:xfrm>
            <a:off x="7635240" y="1161288"/>
            <a:ext cx="1005840" cy="292608"/>
          </a:xfrm>
          <a:prstGeom prst="roundRect">
            <a:avLst>
              <a:gd name="adj" fmla="val 25000"/>
            </a:avLst>
          </a:prstGeom>
          <a:solidFill>
            <a:schemeClr val="accent2"/>
          </a:solidFill>
          <a:ln/>
        </p:spPr>
        <p:txBody>
          <a:bodyPr wrap="square" lIns="50800" tIns="50800" rIns="50800" bIns="50800" rtlCol="0" anchor="ctr"/>
          <a:lstStyle/>
          <a:p>
            <a:pPr algn="ctr" indent="0" marL="0">
              <a:buNone/>
            </a:pPr>
            <a:r>
              <a:rPr lang="en-US" sz="1100" dirty="0">
                <a:solidFill>
                  <a:schemeClr val="bg1"/>
                </a:solidFill>
              </a:rPr>
              <a:t>Groq AI</a:t>
            </a:r>
            <a:endParaRPr lang="en-US" sz="1100" dirty="0"/>
          </a:p>
        </p:txBody>
      </p:sp>
      <p:sp>
        <p:nvSpPr>
          <p:cNvPr id="11" name="Shape 8"/>
          <p:cNvSpPr/>
          <p:nvPr/>
        </p:nvSpPr>
        <p:spPr>
          <a:xfrm flipH="1">
            <a:off x="1737360" y="1527048"/>
            <a:ext cx="2807208" cy="301752"/>
          </a:xfrm>
          <a:prstGeom prst="line">
            <a:avLst/>
          </a:prstGeom>
          <a:noFill/>
          <a:ln w="22225">
            <a:solidFill>
              <a:schemeClr val="accent6"/>
            </a:solidFill>
            <a:prstDash val="solid"/>
            <a:tailEnd type="triangle"/>
          </a:ln>
        </p:spPr>
      </p:sp>
      <p:sp>
        <p:nvSpPr>
          <p:cNvPr id="12" name="box NCT Module"/>
          <p:cNvSpPr/>
          <p:nvPr/>
        </p:nvSpPr>
        <p:spPr>
          <a:xfrm>
            <a:off x="457200" y="1828800"/>
            <a:ext cx="256032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400" dirty="0">
                <a:solidFill>
                  <a:schemeClr val="bg1"/>
                </a:solidFill>
              </a:rPr>
              <a:t>NCT Module</a:t>
            </a:r>
            <a:endParaRPr lang="en-US" sz="1400" dirty="0"/>
          </a:p>
        </p:txBody>
      </p:sp>
      <p:sp>
        <p:nvSpPr>
          <p:cNvPr id="13" name="Shape 10"/>
          <p:cNvSpPr/>
          <p:nvPr/>
        </p:nvSpPr>
        <p:spPr>
          <a:xfrm>
            <a:off x="1737360" y="2304288"/>
            <a:ext cx="0" cy="301752"/>
          </a:xfrm>
          <a:prstGeom prst="line">
            <a:avLst/>
          </a:prstGeom>
          <a:noFill/>
          <a:ln w="22225">
            <a:solidFill>
              <a:schemeClr val="accent6"/>
            </a:solidFill>
            <a:prstDash val="solid"/>
            <a:tailEnd type="triangle"/>
          </a:ln>
        </p:spPr>
      </p:sp>
      <p:sp>
        <p:nvSpPr>
          <p:cNvPr id="14" name="box ClinicalTrials.gov"/>
          <p:cNvSpPr/>
          <p:nvPr/>
        </p:nvSpPr>
        <p:spPr>
          <a:xfrm>
            <a:off x="457200" y="2606040"/>
            <a:ext cx="2560320" cy="411480"/>
          </a:xfrm>
          <a:prstGeom prst="roundRect">
            <a:avLst>
              <a:gd name="adj" fmla="val 17778"/>
            </a:avLst>
          </a:prstGeom>
          <a:solidFill>
            <a:schemeClr val="bg2"/>
          </a:solidFill>
          <a:ln/>
        </p:spPr>
        <p:txBody>
          <a:bodyPr wrap="square" lIns="50800" tIns="50800" rIns="50800" bIns="50800" rtlCol="0" anchor="ctr"/>
          <a:lstStyle/>
          <a:p>
            <a:pPr algn="ctr" indent="0" marL="0">
              <a:buNone/>
            </a:pPr>
            <a:r>
              <a:rPr lang="en-US" sz="1300" dirty="0">
                <a:solidFill>
                  <a:schemeClr val="tx1"/>
                </a:solidFill>
              </a:rPr>
              <a:t>ClinicalTrials.gov</a:t>
            </a:r>
            <a:endParaRPr lang="en-US" sz="1300" dirty="0"/>
          </a:p>
        </p:txBody>
      </p:sp>
      <p:sp>
        <p:nvSpPr>
          <p:cNvPr id="15" name="Shape 12"/>
          <p:cNvSpPr/>
          <p:nvPr/>
        </p:nvSpPr>
        <p:spPr>
          <a:xfrm>
            <a:off x="1737360" y="3035808"/>
            <a:ext cx="0" cy="301752"/>
          </a:xfrm>
          <a:prstGeom prst="line">
            <a:avLst/>
          </a:prstGeom>
          <a:noFill/>
          <a:ln w="22225">
            <a:solidFill>
              <a:schemeClr val="accent6"/>
            </a:solidFill>
            <a:prstDash val="solid"/>
            <a:tailEnd type="triangle"/>
          </a:ln>
        </p:spPr>
      </p:sp>
      <p:sp>
        <p:nvSpPr>
          <p:cNvPr id="16" name="Shape 13"/>
          <p:cNvSpPr/>
          <p:nvPr/>
        </p:nvSpPr>
        <p:spPr>
          <a:xfrm flipH="1">
            <a:off x="4526280" y="1527048"/>
            <a:ext cx="18288" cy="301752"/>
          </a:xfrm>
          <a:prstGeom prst="line">
            <a:avLst/>
          </a:prstGeom>
          <a:noFill/>
          <a:ln w="22225">
            <a:solidFill>
              <a:schemeClr val="accent6"/>
            </a:solidFill>
            <a:prstDash val="solid"/>
            <a:tailEnd type="triangle"/>
          </a:ln>
        </p:spPr>
      </p:sp>
      <p:sp>
        <p:nvSpPr>
          <p:cNvPr id="17" name="box PubMed Module"/>
          <p:cNvSpPr/>
          <p:nvPr/>
        </p:nvSpPr>
        <p:spPr>
          <a:xfrm>
            <a:off x="3246120" y="1828800"/>
            <a:ext cx="256032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400" dirty="0">
                <a:solidFill>
                  <a:schemeClr val="bg1"/>
                </a:solidFill>
              </a:rPr>
              <a:t>PubMed Module</a:t>
            </a:r>
            <a:endParaRPr lang="en-US" sz="1400" dirty="0"/>
          </a:p>
        </p:txBody>
      </p:sp>
      <p:sp>
        <p:nvSpPr>
          <p:cNvPr id="18" name="Shape 15"/>
          <p:cNvSpPr/>
          <p:nvPr/>
        </p:nvSpPr>
        <p:spPr>
          <a:xfrm>
            <a:off x="4526280" y="2304288"/>
            <a:ext cx="0" cy="301752"/>
          </a:xfrm>
          <a:prstGeom prst="line">
            <a:avLst/>
          </a:prstGeom>
          <a:noFill/>
          <a:ln w="22225">
            <a:solidFill>
              <a:schemeClr val="accent6"/>
            </a:solidFill>
            <a:prstDash val="solid"/>
            <a:tailEnd type="triangle"/>
          </a:ln>
        </p:spPr>
      </p:sp>
      <p:sp>
        <p:nvSpPr>
          <p:cNvPr id="19" name="box PubMed API"/>
          <p:cNvSpPr/>
          <p:nvPr/>
        </p:nvSpPr>
        <p:spPr>
          <a:xfrm>
            <a:off x="3246120" y="2606040"/>
            <a:ext cx="2560320" cy="411480"/>
          </a:xfrm>
          <a:prstGeom prst="roundRect">
            <a:avLst>
              <a:gd name="adj" fmla="val 17778"/>
            </a:avLst>
          </a:prstGeom>
          <a:solidFill>
            <a:schemeClr val="bg2"/>
          </a:solidFill>
          <a:ln/>
        </p:spPr>
        <p:txBody>
          <a:bodyPr wrap="square" lIns="50800" tIns="50800" rIns="50800" bIns="50800" rtlCol="0" anchor="ctr"/>
          <a:lstStyle/>
          <a:p>
            <a:pPr algn="ctr" indent="0" marL="0">
              <a:buNone/>
            </a:pPr>
            <a:r>
              <a:rPr lang="en-US" sz="1300" dirty="0">
                <a:solidFill>
                  <a:schemeClr val="tx1"/>
                </a:solidFill>
              </a:rPr>
              <a:t>PubMed API</a:t>
            </a:r>
            <a:endParaRPr lang="en-US" sz="1300" dirty="0"/>
          </a:p>
        </p:txBody>
      </p:sp>
      <p:sp>
        <p:nvSpPr>
          <p:cNvPr id="20" name="Shape 17"/>
          <p:cNvSpPr/>
          <p:nvPr/>
        </p:nvSpPr>
        <p:spPr>
          <a:xfrm>
            <a:off x="4526280" y="3035808"/>
            <a:ext cx="0" cy="301752"/>
          </a:xfrm>
          <a:prstGeom prst="line">
            <a:avLst/>
          </a:prstGeom>
          <a:noFill/>
          <a:ln w="22225">
            <a:solidFill>
              <a:schemeClr val="accent6"/>
            </a:solidFill>
            <a:prstDash val="solid"/>
            <a:tailEnd type="triangle"/>
          </a:ln>
        </p:spPr>
      </p:sp>
      <p:sp>
        <p:nvSpPr>
          <p:cNvPr id="21" name="Shape 18"/>
          <p:cNvSpPr/>
          <p:nvPr/>
        </p:nvSpPr>
        <p:spPr>
          <a:xfrm>
            <a:off x="4544568" y="1527048"/>
            <a:ext cx="2770632" cy="301752"/>
          </a:xfrm>
          <a:prstGeom prst="line">
            <a:avLst/>
          </a:prstGeom>
          <a:noFill/>
          <a:ln w="22225">
            <a:solidFill>
              <a:schemeClr val="accent6"/>
            </a:solidFill>
            <a:prstDash val="solid"/>
            <a:tailEnd type="triangle"/>
          </a:ln>
        </p:spPr>
      </p:sp>
      <p:sp>
        <p:nvSpPr>
          <p:cNvPr id="22" name="box Trial Module"/>
          <p:cNvSpPr/>
          <p:nvPr/>
        </p:nvSpPr>
        <p:spPr>
          <a:xfrm>
            <a:off x="6035040" y="1828800"/>
            <a:ext cx="256032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400" dirty="0">
                <a:solidFill>
                  <a:schemeClr val="bg1"/>
                </a:solidFill>
              </a:rPr>
              <a:t>Trial Module</a:t>
            </a:r>
            <a:endParaRPr lang="en-US" sz="1400" dirty="0"/>
          </a:p>
        </p:txBody>
      </p:sp>
      <p:sp>
        <p:nvSpPr>
          <p:cNvPr id="23" name="Shape 20"/>
          <p:cNvSpPr/>
          <p:nvPr/>
        </p:nvSpPr>
        <p:spPr>
          <a:xfrm>
            <a:off x="7315200" y="2304288"/>
            <a:ext cx="0" cy="301752"/>
          </a:xfrm>
          <a:prstGeom prst="line">
            <a:avLst/>
          </a:prstGeom>
          <a:noFill/>
          <a:ln w="22225">
            <a:solidFill>
              <a:schemeClr val="accent6"/>
            </a:solidFill>
            <a:prstDash val="solid"/>
            <a:tailEnd type="triangle"/>
          </a:ln>
        </p:spPr>
      </p:sp>
      <p:sp>
        <p:nvSpPr>
          <p:cNvPr id="24" name="box ClinicalTrials.gov"/>
          <p:cNvSpPr/>
          <p:nvPr/>
        </p:nvSpPr>
        <p:spPr>
          <a:xfrm>
            <a:off x="6035040" y="2606040"/>
            <a:ext cx="2560320" cy="411480"/>
          </a:xfrm>
          <a:prstGeom prst="roundRect">
            <a:avLst>
              <a:gd name="adj" fmla="val 17778"/>
            </a:avLst>
          </a:prstGeom>
          <a:solidFill>
            <a:schemeClr val="bg2"/>
          </a:solidFill>
          <a:ln/>
        </p:spPr>
        <p:txBody>
          <a:bodyPr wrap="square" lIns="50800" tIns="50800" rIns="50800" bIns="50800" rtlCol="0" anchor="ctr"/>
          <a:lstStyle/>
          <a:p>
            <a:pPr algn="ctr" indent="0" marL="0">
              <a:buNone/>
            </a:pPr>
            <a:r>
              <a:rPr lang="en-US" sz="1300" dirty="0">
                <a:solidFill>
                  <a:schemeClr val="tx1"/>
                </a:solidFill>
              </a:rPr>
              <a:t>ClinicalTrials.gov</a:t>
            </a:r>
            <a:endParaRPr lang="en-US" sz="1300" dirty="0"/>
          </a:p>
        </p:txBody>
      </p:sp>
      <p:sp>
        <p:nvSpPr>
          <p:cNvPr id="25" name="Shape 22"/>
          <p:cNvSpPr/>
          <p:nvPr/>
        </p:nvSpPr>
        <p:spPr>
          <a:xfrm>
            <a:off x="7315200" y="3035808"/>
            <a:ext cx="0" cy="301752"/>
          </a:xfrm>
          <a:prstGeom prst="line">
            <a:avLst/>
          </a:prstGeom>
          <a:noFill/>
          <a:ln w="22225">
            <a:solidFill>
              <a:schemeClr val="accent6"/>
            </a:solidFill>
            <a:prstDash val="solid"/>
            <a:tailEnd type="triangle"/>
          </a:ln>
        </p:spPr>
      </p:sp>
      <p:sp>
        <p:nvSpPr>
          <p:cNvPr id="26" name="box SQLite database (S"/>
          <p:cNvSpPr/>
          <p:nvPr/>
        </p:nvSpPr>
        <p:spPr>
          <a:xfrm>
            <a:off x="457200" y="3337560"/>
            <a:ext cx="8138160" cy="457200"/>
          </a:xfrm>
          <a:prstGeom prst="roundRect">
            <a:avLst>
              <a:gd name="adj" fmla="val 16000"/>
            </a:avLst>
          </a:prstGeom>
          <a:solidFill>
            <a:schemeClr val="tx2"/>
          </a:solidFill>
          <a:ln/>
        </p:spPr>
        <p:txBody>
          <a:bodyPr wrap="square" lIns="50800" tIns="50800" rIns="50800" bIns="50800" rtlCol="0" anchor="ctr"/>
          <a:lstStyle/>
          <a:p>
            <a:pPr algn="ctr" indent="0" marL="0">
              <a:buNone/>
            </a:pPr>
            <a:r>
              <a:rPr lang="en-US" sz="1400" dirty="0">
                <a:solidFill>
                  <a:schemeClr val="bg1"/>
                </a:solidFill>
              </a:rPr>
              <a:t>SQLite database (SQLAlchemy models)</a:t>
            </a:r>
            <a:endParaRPr lang="en-US" sz="1400" dirty="0"/>
          </a:p>
        </p:txBody>
      </p:sp>
      <p:sp>
        <p:nvSpPr>
          <p:cNvPr id="27" name="Shape 24"/>
          <p:cNvSpPr/>
          <p:nvPr/>
        </p:nvSpPr>
        <p:spPr>
          <a:xfrm>
            <a:off x="4526280" y="3813048"/>
            <a:ext cx="0" cy="301752"/>
          </a:xfrm>
          <a:prstGeom prst="line">
            <a:avLst/>
          </a:prstGeom>
          <a:noFill/>
          <a:ln w="22225">
            <a:solidFill>
              <a:schemeClr val="accent6"/>
            </a:solidFill>
            <a:prstDash val="solid"/>
            <a:tailEnd type="triangle"/>
          </a:ln>
        </p:spPr>
      </p:sp>
      <p:sp>
        <p:nvSpPr>
          <p:cNvPr id="28" name="box Groq Service - sum"/>
          <p:cNvSpPr/>
          <p:nvPr/>
        </p:nvSpPr>
        <p:spPr>
          <a:xfrm>
            <a:off x="1828800" y="4114800"/>
            <a:ext cx="5394960" cy="457200"/>
          </a:xfrm>
          <a:prstGeom prst="roundRect">
            <a:avLst>
              <a:gd name="adj" fmla="val 16000"/>
            </a:avLst>
          </a:prstGeom>
          <a:solidFill>
            <a:schemeClr val="accent2"/>
          </a:solidFill>
          <a:ln/>
        </p:spPr>
        <p:txBody>
          <a:bodyPr wrap="square" lIns="50800" tIns="50800" rIns="50800" bIns="50800" rtlCol="0" anchor="ctr"/>
          <a:lstStyle/>
          <a:p>
            <a:pPr algn="ctr" indent="0" marL="0">
              <a:buNone/>
            </a:pPr>
            <a:r>
              <a:rPr lang="en-US" sz="1400" dirty="0">
                <a:solidFill>
                  <a:schemeClr val="bg1"/>
                </a:solidFill>
              </a:rPr>
              <a:t>Groq Service - summaries, trial understanding, figure analysis</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Technology Stack</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5120640" cy="914400"/>
        </p:xfrm>
        <a:graphic>
          <a:graphicData uri="http://schemas.openxmlformats.org/drawingml/2006/table">
            <a:tbl>
              <a:tblPr/>
              <a:tblGrid>
                <a:gridCol w="1828800"/>
                <a:gridCol w="3291840"/>
              </a:tblGrid>
              <a:tr h="274320">
                <a:tc>
                  <a:txBody>
                    <a:bodyPr/>
                    <a:lstStyle/>
                    <a:p>
                      <a:pPr indent="0" marL="0">
                        <a:buNone/>
                      </a:pPr>
                      <a:r>
                        <a:rPr lang="en-US" sz="1300" b="1" dirty="0">
                          <a:solidFill>
                            <a:schemeClr val="bg1"/>
                          </a:solidFill>
                        </a:rPr>
                        <a:t>Layer</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Technology</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tx2"/>
                    </a:solidFill>
                  </a:tcPr>
                </a:tc>
              </a:tr>
              <a:tr h="274320">
                <a:tc>
                  <a:txBody>
                    <a:bodyPr/>
                    <a:lstStyle/>
                    <a:p>
                      <a:pPr indent="0" marL="0">
                        <a:buNone/>
                      </a:pPr>
                      <a:r>
                        <a:rPr lang="en-US" sz="1300" dirty="0">
                          <a:solidFill>
                            <a:schemeClr val="tx1"/>
                          </a:solidFill>
                        </a:rPr>
                        <a:t>Language</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Python</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Backend</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FastAPI</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Database</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SQLite local / PostgreSQL (Supabase)</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ORM</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SQLAlchemy</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Validation</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Pydantic</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HTML Parsing</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BeautifulSoup</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Research API</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PubMed (E-utilities)</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Trial Data</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ClinicalTrials.gov API</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AI</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Groq API</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r h="274320">
                <a:tc>
                  <a:txBody>
                    <a:bodyPr/>
                    <a:lstStyle/>
                    <a:p>
                      <a:pPr indent="0" marL="0">
                        <a:buNone/>
                      </a:pPr>
                      <a:r>
                        <a:rPr lang="en-US" sz="1300" dirty="0">
                          <a:solidFill>
                            <a:schemeClr val="tx1"/>
                          </a:solidFill>
                        </a:rPr>
                        <a:t>Frontend</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HTML / CSS / JavaScript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r>
              <a:tr h="274320">
                <a:tc>
                  <a:txBody>
                    <a:bodyPr/>
                    <a:lstStyle/>
                    <a:p>
                      <a:pPr indent="0" marL="0">
                        <a:buNone/>
                      </a:pPr>
                      <a:r>
                        <a:rPr lang="en-US" sz="1300" dirty="0">
                          <a:solidFill>
                            <a:schemeClr val="tx1"/>
                          </a:solidFill>
                        </a:rPr>
                        <a:t>Deployment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Render + Supabase</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943600" y="1188720"/>
            <a:ext cx="2743200" cy="2560320"/>
          </a:xfrm>
          <a:prstGeom prst="rect">
            <a:avLst/>
          </a:prstGeom>
          <a:noFill/>
          <a:ln/>
        </p:spPr>
        <p:txBody>
          <a:bodyPr wrap="square" lIns="0" tIns="0" rIns="0" bIns="0" rtlCol="0" anchor="t"/>
          <a:lstStyle/>
          <a:p>
            <a:pPr indent="0" marL="0">
              <a:spcAft>
                <a:spcPts val="800"/>
              </a:spcAft>
              <a:buNone/>
            </a:pPr>
            <a:r>
              <a:rPr lang="en-US" sz="1800" b="1" dirty="0">
                <a:solidFill>
                  <a:schemeClr val="tx2"/>
                </a:solidFill>
              </a:rPr>
              <a:t>Kept simple on purpose</a:t>
            </a:r>
            <a:endParaRPr lang="en-US" sz="1400" dirty="0"/>
          </a:p>
          <a:p>
            <a:pPr marL="342900" indent="-342900">
              <a:spcAft>
                <a:spcPts val="800"/>
              </a:spcAft>
              <a:buSzPct val="100000"/>
              <a:buChar char="•"/>
            </a:pPr>
            <a:r>
              <a:rPr lang="en-US" sz="1400" dirty="0">
                <a:solidFill>
                  <a:schemeClr val="tx1"/>
                </a:solidFill>
              </a:rPr>
              <a:t>No Docker, Redis, Celery or React.</a:t>
            </a:r>
            <a:endParaRPr lang="en-US" sz="1400" dirty="0"/>
          </a:p>
          <a:p>
            <a:pPr marL="342900" indent="-342900">
              <a:spcAft>
                <a:spcPts val="800"/>
              </a:spcAft>
              <a:buSzPct val="100000"/>
              <a:buChar char="•"/>
            </a:pPr>
            <a:r>
              <a:rPr lang="en-US" sz="1400" dirty="0">
                <a:solidFill>
                  <a:schemeClr val="tx1"/>
                </a:solidFill>
              </a:rPr>
              <a:t>Every library has one clear job.</a:t>
            </a:r>
            <a:endParaRPr lang="en-US" sz="1400" dirty="0"/>
          </a:p>
          <a:p>
            <a:pPr marL="342900" indent="-342900">
              <a:spcAft>
                <a:spcPts val="800"/>
              </a:spcAft>
              <a:buSzPct val="100000"/>
              <a:buChar char="•"/>
            </a:pPr>
            <a:r>
              <a:rPr lang="en-US" sz="1400" dirty="0">
                <a:solidFill>
                  <a:schemeClr val="tx1"/>
                </a:solidFill>
              </a:rPr>
              <a:t>Groq is called with plain HTTP, so the request is easy to explain.</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NCT Change Detection</a:t>
            </a:r>
            <a:endParaRPr lang="en-US" sz="3200" dirty="0"/>
          </a:p>
        </p:txBody>
      </p:sp>
      <p:sp>
        <p:nvSpPr>
          <p:cNvPr id="4" name="box Previous HTML"/>
          <p:cNvSpPr/>
          <p:nvPr/>
        </p:nvSpPr>
        <p:spPr>
          <a:xfrm>
            <a:off x="457200" y="1234440"/>
            <a:ext cx="1127760" cy="731520"/>
          </a:xfrm>
          <a:prstGeom prst="roundRect">
            <a:avLst>
              <a:gd name="adj" fmla="val 10000"/>
            </a:avLst>
          </a:prstGeom>
          <a:solidFill>
            <a:schemeClr val="bg2"/>
          </a:solidFill>
          <a:ln/>
        </p:spPr>
        <p:txBody>
          <a:bodyPr wrap="square" lIns="50800" tIns="50800" rIns="50800" bIns="50800" rtlCol="0" anchor="ctr"/>
          <a:lstStyle/>
          <a:p>
            <a:pPr algn="ctr" indent="0" marL="0">
              <a:buNone/>
            </a:pPr>
            <a:r>
              <a:rPr lang="en-US" sz="1200" dirty="0">
                <a:solidFill>
                  <a:schemeClr val="tx1"/>
                </a:solidFill>
              </a:rPr>
              <a:t>Previous HTML</a:t>
            </a:r>
            <a:endParaRPr lang="en-US" sz="1200" dirty="0"/>
          </a:p>
        </p:txBody>
      </p:sp>
      <p:sp>
        <p:nvSpPr>
          <p:cNvPr id="5" name="Shape 2"/>
          <p:cNvSpPr/>
          <p:nvPr/>
        </p:nvSpPr>
        <p:spPr>
          <a:xfrm>
            <a:off x="1603248" y="1600200"/>
            <a:ext cx="237744" cy="0"/>
          </a:xfrm>
          <a:prstGeom prst="line">
            <a:avLst/>
          </a:prstGeom>
          <a:noFill/>
          <a:ln w="22225">
            <a:solidFill>
              <a:schemeClr val="accent6"/>
            </a:solidFill>
            <a:prstDash val="solid"/>
            <a:tailEnd type="triangle"/>
          </a:ln>
        </p:spPr>
      </p:sp>
      <p:sp>
        <p:nvSpPr>
          <p:cNvPr id="6" name="box Parser"/>
          <p:cNvSpPr/>
          <p:nvPr/>
        </p:nvSpPr>
        <p:spPr>
          <a:xfrm>
            <a:off x="1859280" y="1234440"/>
            <a:ext cx="11277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Parser</a:t>
            </a:r>
            <a:endParaRPr lang="en-US" sz="1200" dirty="0"/>
          </a:p>
        </p:txBody>
      </p:sp>
      <p:sp>
        <p:nvSpPr>
          <p:cNvPr id="7" name="Shape 4"/>
          <p:cNvSpPr/>
          <p:nvPr/>
        </p:nvSpPr>
        <p:spPr>
          <a:xfrm>
            <a:off x="3005328" y="1600200"/>
            <a:ext cx="237744" cy="0"/>
          </a:xfrm>
          <a:prstGeom prst="line">
            <a:avLst/>
          </a:prstGeom>
          <a:noFill/>
          <a:ln w="22225">
            <a:solidFill>
              <a:schemeClr val="accent6"/>
            </a:solidFill>
            <a:prstDash val="solid"/>
            <a:tailEnd type="triangle"/>
          </a:ln>
        </p:spPr>
      </p:sp>
      <p:sp>
        <p:nvSpPr>
          <p:cNvPr id="8" name="box Normalized JSON"/>
          <p:cNvSpPr/>
          <p:nvPr/>
        </p:nvSpPr>
        <p:spPr>
          <a:xfrm>
            <a:off x="3261360" y="1234440"/>
            <a:ext cx="11277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Normalized JSON</a:t>
            </a:r>
            <a:endParaRPr lang="en-US" sz="1200" dirty="0"/>
          </a:p>
        </p:txBody>
      </p:sp>
      <p:sp>
        <p:nvSpPr>
          <p:cNvPr id="9" name="Shape 6"/>
          <p:cNvSpPr/>
          <p:nvPr/>
        </p:nvSpPr>
        <p:spPr>
          <a:xfrm>
            <a:off x="4416552" y="1600200"/>
            <a:ext cx="338328" cy="0"/>
          </a:xfrm>
          <a:prstGeom prst="line">
            <a:avLst/>
          </a:prstGeom>
          <a:noFill/>
          <a:ln w="22225">
            <a:solidFill>
              <a:schemeClr val="accent6"/>
            </a:solidFill>
            <a:prstDash val="solid"/>
            <a:tailEnd type="triangle"/>
          </a:ln>
        </p:spPr>
      </p:sp>
      <p:sp>
        <p:nvSpPr>
          <p:cNvPr id="10" name="box Current HTML"/>
          <p:cNvSpPr/>
          <p:nvPr/>
        </p:nvSpPr>
        <p:spPr>
          <a:xfrm>
            <a:off x="457200" y="2971800"/>
            <a:ext cx="1127760" cy="731520"/>
          </a:xfrm>
          <a:prstGeom prst="roundRect">
            <a:avLst>
              <a:gd name="adj" fmla="val 10000"/>
            </a:avLst>
          </a:prstGeom>
          <a:solidFill>
            <a:schemeClr val="bg2"/>
          </a:solidFill>
          <a:ln/>
        </p:spPr>
        <p:txBody>
          <a:bodyPr wrap="square" lIns="50800" tIns="50800" rIns="50800" bIns="50800" rtlCol="0" anchor="ctr"/>
          <a:lstStyle/>
          <a:p>
            <a:pPr algn="ctr" indent="0" marL="0">
              <a:buNone/>
            </a:pPr>
            <a:r>
              <a:rPr lang="en-US" sz="1200" dirty="0">
                <a:solidFill>
                  <a:schemeClr val="tx1"/>
                </a:solidFill>
              </a:rPr>
              <a:t>Current HTML</a:t>
            </a:r>
            <a:endParaRPr lang="en-US" sz="1200" dirty="0"/>
          </a:p>
        </p:txBody>
      </p:sp>
      <p:sp>
        <p:nvSpPr>
          <p:cNvPr id="11" name="Shape 8"/>
          <p:cNvSpPr/>
          <p:nvPr/>
        </p:nvSpPr>
        <p:spPr>
          <a:xfrm>
            <a:off x="1603248" y="3337560"/>
            <a:ext cx="237744" cy="0"/>
          </a:xfrm>
          <a:prstGeom prst="line">
            <a:avLst/>
          </a:prstGeom>
          <a:noFill/>
          <a:ln w="22225">
            <a:solidFill>
              <a:schemeClr val="accent6"/>
            </a:solidFill>
            <a:prstDash val="solid"/>
            <a:tailEnd type="triangle"/>
          </a:ln>
        </p:spPr>
      </p:sp>
      <p:sp>
        <p:nvSpPr>
          <p:cNvPr id="12" name="box Parser"/>
          <p:cNvSpPr/>
          <p:nvPr/>
        </p:nvSpPr>
        <p:spPr>
          <a:xfrm>
            <a:off x="1859280" y="2971800"/>
            <a:ext cx="11277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Parser</a:t>
            </a:r>
            <a:endParaRPr lang="en-US" sz="1200" dirty="0"/>
          </a:p>
        </p:txBody>
      </p:sp>
      <p:sp>
        <p:nvSpPr>
          <p:cNvPr id="13" name="Shape 10"/>
          <p:cNvSpPr/>
          <p:nvPr/>
        </p:nvSpPr>
        <p:spPr>
          <a:xfrm>
            <a:off x="3005328" y="3337560"/>
            <a:ext cx="237744" cy="0"/>
          </a:xfrm>
          <a:prstGeom prst="line">
            <a:avLst/>
          </a:prstGeom>
          <a:noFill/>
          <a:ln w="22225">
            <a:solidFill>
              <a:schemeClr val="accent6"/>
            </a:solidFill>
            <a:prstDash val="solid"/>
            <a:tailEnd type="triangle"/>
          </a:ln>
        </p:spPr>
      </p:sp>
      <p:sp>
        <p:nvSpPr>
          <p:cNvPr id="14" name="box Normalized JSON"/>
          <p:cNvSpPr/>
          <p:nvPr/>
        </p:nvSpPr>
        <p:spPr>
          <a:xfrm>
            <a:off x="3261360" y="2971800"/>
            <a:ext cx="11277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Normalized JSON</a:t>
            </a:r>
            <a:endParaRPr lang="en-US" sz="1200" dirty="0"/>
          </a:p>
        </p:txBody>
      </p:sp>
      <p:sp>
        <p:nvSpPr>
          <p:cNvPr id="15" name="Shape 12"/>
          <p:cNvSpPr/>
          <p:nvPr/>
        </p:nvSpPr>
        <p:spPr>
          <a:xfrm>
            <a:off x="4416552" y="3337560"/>
            <a:ext cx="338328" cy="0"/>
          </a:xfrm>
          <a:prstGeom prst="line">
            <a:avLst/>
          </a:prstGeom>
          <a:noFill/>
          <a:ln w="22225">
            <a:solidFill>
              <a:schemeClr val="accent6"/>
            </a:solidFill>
            <a:prstDash val="solid"/>
            <a:tailEnd type="triangle"/>
          </a:ln>
        </p:spPr>
      </p:sp>
      <p:sp>
        <p:nvSpPr>
          <p:cNvPr id="16" name="box Compare (Python fu"/>
          <p:cNvSpPr/>
          <p:nvPr/>
        </p:nvSpPr>
        <p:spPr>
          <a:xfrm>
            <a:off x="4773168" y="1234440"/>
            <a:ext cx="1463040" cy="2468880"/>
          </a:xfrm>
          <a:prstGeom prst="roundRect">
            <a:avLst>
              <a:gd name="adj" fmla="val 5000"/>
            </a:avLst>
          </a:prstGeom>
          <a:solidFill>
            <a:schemeClr val="accent1"/>
          </a:solidFill>
          <a:ln/>
        </p:spPr>
        <p:txBody>
          <a:bodyPr wrap="square" lIns="50800" tIns="50800" rIns="50800" bIns="50800" rtlCol="0" anchor="ctr"/>
          <a:lstStyle/>
          <a:p>
            <a:pPr algn="ctr" indent="0" marL="0">
              <a:buNone/>
            </a:pPr>
            <a:r>
              <a:rPr lang="en-US" sz="1300" dirty="0">
                <a:solidFill>
                  <a:schemeClr val="bg1"/>
                </a:solidFill>
              </a:rPr>
              <a:t>Compare</a:t>
            </a:r>
            <a:endParaRPr lang="en-US" sz="1300" dirty="0"/>
          </a:p>
          <a:p>
            <a:pPr algn="ctr" indent="0" marL="0">
              <a:buNone/>
            </a:pPr>
            <a:r>
              <a:rPr lang="en-US" sz="1300" dirty="0">
                <a:solidFill>
                  <a:schemeClr val="bg1"/>
                </a:solidFill>
              </a:rPr>
              <a:t>(Python function)</a:t>
            </a:r>
            <a:endParaRPr lang="en-US" sz="1300" dirty="0"/>
          </a:p>
          <a:p>
            <a:pPr algn="ctr" indent="0" marL="0">
              <a:buNone/>
            </a:pPr>
            <a:endParaRPr lang="en-US" sz="1300" dirty="0"/>
          </a:p>
          <a:p>
            <a:pPr algn="ctr" indent="0" marL="0">
              <a:buNone/>
            </a:pPr>
            <a:r>
              <a:rPr lang="en-US" sz="1300" dirty="0">
                <a:solidFill>
                  <a:schemeClr val="bg1"/>
                </a:solidFill>
              </a:rPr>
              <a:t>added</a:t>
            </a:r>
            <a:endParaRPr lang="en-US" sz="1300" dirty="0"/>
          </a:p>
          <a:p>
            <a:pPr algn="ctr" indent="0" marL="0">
              <a:buNone/>
            </a:pPr>
            <a:r>
              <a:rPr lang="en-US" sz="1300" dirty="0">
                <a:solidFill>
                  <a:schemeClr val="bg1"/>
                </a:solidFill>
              </a:rPr>
              <a:t>removed</a:t>
            </a:r>
            <a:endParaRPr lang="en-US" sz="1300" dirty="0"/>
          </a:p>
          <a:p>
            <a:pPr algn="ctr" indent="0" marL="0">
              <a:buNone/>
            </a:pPr>
            <a:r>
              <a:rPr lang="en-US" sz="1300" dirty="0">
                <a:solidFill>
                  <a:schemeClr val="bg1"/>
                </a:solidFill>
              </a:rPr>
              <a:t>modified</a:t>
            </a:r>
            <a:endParaRPr lang="en-US" sz="1300" dirty="0"/>
          </a:p>
        </p:txBody>
      </p:sp>
      <p:sp>
        <p:nvSpPr>
          <p:cNvPr id="17" name="example card"/>
          <p:cNvSpPr/>
          <p:nvPr/>
        </p:nvSpPr>
        <p:spPr>
          <a:xfrm>
            <a:off x="6492240" y="1234440"/>
            <a:ext cx="2194560" cy="2468880"/>
          </a:xfrm>
          <a:prstGeom prst="roundRect">
            <a:avLst>
              <a:gd name="adj" fmla="val 3333"/>
            </a:avLst>
          </a:prstGeom>
          <a:solidFill>
            <a:schemeClr val="bg2"/>
          </a:solidFill>
          <a:ln/>
        </p:spPr>
      </p:sp>
      <p:sp>
        <p:nvSpPr>
          <p:cNvPr id="18" name="Text 15"/>
          <p:cNvSpPr txBox="1"/>
          <p:nvPr/>
        </p:nvSpPr>
        <p:spPr>
          <a:xfrm>
            <a:off x="6629400" y="1325880"/>
            <a:ext cx="1920240" cy="2286000"/>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Eligibility</a:t>
            </a:r>
            <a:endParaRPr lang="en-US" sz="1500" dirty="0"/>
          </a:p>
          <a:p>
            <a:pPr indent="0" marL="0">
              <a:spcAft>
                <a:spcPts val="400"/>
              </a:spcAft>
              <a:buNone/>
            </a:pPr>
            <a:r>
              <a:rPr lang="en-US" sz="1200" b="1" dirty="0">
                <a:solidFill>
                  <a:schemeClr val="accent5"/>
                </a:solidFill>
              </a:rPr>
              <a:t>Previous:</a:t>
            </a:r>
            <a:endParaRPr lang="en-US" sz="1500" dirty="0"/>
          </a:p>
          <a:p>
            <a:pPr indent="0" marL="0">
              <a:spcAft>
                <a:spcPts val="400"/>
              </a:spcAft>
              <a:buNone/>
            </a:pPr>
            <a:r>
              <a:rPr lang="en-US" sz="1400" dirty="0">
                <a:solidFill>
                  <a:schemeClr val="tx1"/>
                </a:solidFill>
              </a:rPr>
              <a:t>Age 18–65</a:t>
            </a:r>
            <a:endParaRPr lang="en-US" sz="1500" dirty="0"/>
          </a:p>
          <a:p>
            <a:pPr indent="0" marL="0">
              <a:spcAft>
                <a:spcPts val="400"/>
              </a:spcAft>
              <a:buNone/>
            </a:pPr>
            <a:r>
              <a:rPr lang="en-US" sz="1200" b="1" dirty="0">
                <a:solidFill>
                  <a:schemeClr val="accent4"/>
                </a:solidFill>
              </a:rPr>
              <a:t>Current:</a:t>
            </a:r>
            <a:endParaRPr lang="en-US" sz="1500" dirty="0"/>
          </a:p>
          <a:p>
            <a:pPr indent="0" marL="0">
              <a:spcAft>
                <a:spcPts val="400"/>
              </a:spcAft>
              <a:buNone/>
            </a:pPr>
            <a:r>
              <a:rPr lang="en-US" sz="1400" dirty="0">
                <a:solidFill>
                  <a:schemeClr val="tx1"/>
                </a:solidFill>
              </a:rPr>
              <a:t>Age 18–70</a:t>
            </a:r>
            <a:endParaRPr lang="en-US" sz="1500" dirty="0"/>
          </a:p>
          <a:p>
            <a:pPr indent="0" marL="0">
              <a:spcAft>
                <a:spcPts val="400"/>
              </a:spcAft>
              <a:buNone/>
            </a:pPr>
            <a:r>
              <a:rPr lang="en-US" sz="1400" b="1" dirty="0">
                <a:solidFill>
                  <a:schemeClr val="accent3"/>
                </a:solidFill>
              </a:rPr>
              <a:t>MODIFIED</a:t>
            </a:r>
            <a:endParaRPr lang="en-US" sz="1500" dirty="0"/>
          </a:p>
        </p:txBody>
      </p:sp>
      <p:sp>
        <p:nvSpPr>
          <p:cNvPr id="19" name="Text 16"/>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1400" i="1" dirty="0">
                <a:solidFill>
                  <a:schemeClr val="tx2"/>
                </a:solidFill>
              </a:rPr>
              <a:t>Layout, whitespace and case differences are ignored. Only real content changes are reported.</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PubMed Module</a:t>
            </a:r>
            <a:endParaRPr lang="en-US" sz="3200" dirty="0"/>
          </a:p>
        </p:txBody>
      </p:sp>
      <p:sp>
        <p:nvSpPr>
          <p:cNvPr id="4" name="box Search Query"/>
          <p:cNvSpPr/>
          <p:nvPr/>
        </p:nvSpPr>
        <p:spPr>
          <a:xfrm>
            <a:off x="457200" y="1234440"/>
            <a:ext cx="1203960" cy="731520"/>
          </a:xfrm>
          <a:prstGeom prst="roundRect">
            <a:avLst>
              <a:gd name="adj" fmla="val 10000"/>
            </a:avLst>
          </a:prstGeom>
          <a:solidFill>
            <a:schemeClr val="bg2"/>
          </a:solidFill>
          <a:ln/>
        </p:spPr>
        <p:txBody>
          <a:bodyPr wrap="square" lIns="50800" tIns="50800" rIns="50800" bIns="50800" rtlCol="0" anchor="ctr"/>
          <a:lstStyle/>
          <a:p>
            <a:pPr algn="ctr" indent="0" marL="0">
              <a:buNone/>
            </a:pPr>
            <a:r>
              <a:rPr lang="en-US" sz="1200" dirty="0">
                <a:solidFill>
                  <a:schemeClr val="tx1"/>
                </a:solidFill>
              </a:rPr>
              <a:t>Search Query</a:t>
            </a:r>
            <a:endParaRPr lang="en-US" sz="1200" dirty="0"/>
          </a:p>
        </p:txBody>
      </p:sp>
      <p:sp>
        <p:nvSpPr>
          <p:cNvPr id="5" name="Shape 2"/>
          <p:cNvSpPr/>
          <p:nvPr/>
        </p:nvSpPr>
        <p:spPr>
          <a:xfrm>
            <a:off x="1679448" y="1600200"/>
            <a:ext cx="164592" cy="0"/>
          </a:xfrm>
          <a:prstGeom prst="line">
            <a:avLst/>
          </a:prstGeom>
          <a:noFill/>
          <a:ln w="22225">
            <a:solidFill>
              <a:schemeClr val="accent6"/>
            </a:solidFill>
            <a:prstDash val="solid"/>
            <a:tailEnd type="triangle"/>
          </a:ln>
        </p:spPr>
      </p:sp>
      <p:sp>
        <p:nvSpPr>
          <p:cNvPr id="6" name="box PubMed API"/>
          <p:cNvSpPr/>
          <p:nvPr/>
        </p:nvSpPr>
        <p:spPr>
          <a:xfrm>
            <a:off x="1862328" y="1234440"/>
            <a:ext cx="12039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PubMed API</a:t>
            </a:r>
            <a:endParaRPr lang="en-US" sz="1200" dirty="0"/>
          </a:p>
        </p:txBody>
      </p:sp>
      <p:sp>
        <p:nvSpPr>
          <p:cNvPr id="7" name="Shape 4"/>
          <p:cNvSpPr/>
          <p:nvPr/>
        </p:nvSpPr>
        <p:spPr>
          <a:xfrm>
            <a:off x="3084576" y="1600200"/>
            <a:ext cx="164592" cy="0"/>
          </a:xfrm>
          <a:prstGeom prst="line">
            <a:avLst/>
          </a:prstGeom>
          <a:noFill/>
          <a:ln w="22225">
            <a:solidFill>
              <a:schemeClr val="accent6"/>
            </a:solidFill>
            <a:prstDash val="solid"/>
            <a:tailEnd type="triangle"/>
          </a:ln>
        </p:spPr>
      </p:sp>
      <p:sp>
        <p:nvSpPr>
          <p:cNvPr id="8" name="box Article Metadata"/>
          <p:cNvSpPr/>
          <p:nvPr/>
        </p:nvSpPr>
        <p:spPr>
          <a:xfrm>
            <a:off x="3267456" y="1234440"/>
            <a:ext cx="12039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Article Metadata</a:t>
            </a:r>
            <a:endParaRPr lang="en-US" sz="1200" dirty="0"/>
          </a:p>
        </p:txBody>
      </p:sp>
      <p:sp>
        <p:nvSpPr>
          <p:cNvPr id="9" name="Shape 6"/>
          <p:cNvSpPr/>
          <p:nvPr/>
        </p:nvSpPr>
        <p:spPr>
          <a:xfrm>
            <a:off x="4489704" y="1600200"/>
            <a:ext cx="164592" cy="0"/>
          </a:xfrm>
          <a:prstGeom prst="line">
            <a:avLst/>
          </a:prstGeom>
          <a:noFill/>
          <a:ln w="22225">
            <a:solidFill>
              <a:schemeClr val="accent6"/>
            </a:solidFill>
            <a:prstDash val="solid"/>
            <a:tailEnd type="triangle"/>
          </a:ln>
        </p:spPr>
      </p:sp>
      <p:sp>
        <p:nvSpPr>
          <p:cNvPr id="10" name="box SQLite"/>
          <p:cNvSpPr/>
          <p:nvPr/>
        </p:nvSpPr>
        <p:spPr>
          <a:xfrm>
            <a:off x="4672584" y="1234440"/>
            <a:ext cx="1203960" cy="731520"/>
          </a:xfrm>
          <a:prstGeom prst="roundRect">
            <a:avLst>
              <a:gd name="adj" fmla="val 10000"/>
            </a:avLst>
          </a:prstGeom>
          <a:solidFill>
            <a:schemeClr val="tx2"/>
          </a:solidFill>
          <a:ln/>
        </p:spPr>
        <p:txBody>
          <a:bodyPr wrap="square" lIns="50800" tIns="50800" rIns="50800" bIns="50800" rtlCol="0" anchor="ctr"/>
          <a:lstStyle/>
          <a:p>
            <a:pPr algn="ctr" indent="0" marL="0">
              <a:buNone/>
            </a:pPr>
            <a:r>
              <a:rPr lang="en-US" sz="1200" dirty="0">
                <a:solidFill>
                  <a:schemeClr val="bg1"/>
                </a:solidFill>
              </a:rPr>
              <a:t>SQLite</a:t>
            </a:r>
            <a:endParaRPr lang="en-US" sz="1200" dirty="0"/>
          </a:p>
        </p:txBody>
      </p:sp>
      <p:sp>
        <p:nvSpPr>
          <p:cNvPr id="11" name="Shape 8"/>
          <p:cNvSpPr/>
          <p:nvPr/>
        </p:nvSpPr>
        <p:spPr>
          <a:xfrm>
            <a:off x="5894832" y="1600200"/>
            <a:ext cx="164592" cy="0"/>
          </a:xfrm>
          <a:prstGeom prst="line">
            <a:avLst/>
          </a:prstGeom>
          <a:noFill/>
          <a:ln w="22225">
            <a:solidFill>
              <a:schemeClr val="accent6"/>
            </a:solidFill>
            <a:prstDash val="solid"/>
            <a:tailEnd type="triangle"/>
          </a:ln>
        </p:spPr>
      </p:sp>
      <p:sp>
        <p:nvSpPr>
          <p:cNvPr id="12" name="box Groq"/>
          <p:cNvSpPr/>
          <p:nvPr/>
        </p:nvSpPr>
        <p:spPr>
          <a:xfrm>
            <a:off x="6077712" y="1234440"/>
            <a:ext cx="1203960" cy="731520"/>
          </a:xfrm>
          <a:prstGeom prst="roundRect">
            <a:avLst>
              <a:gd name="adj" fmla="val 10000"/>
            </a:avLst>
          </a:prstGeom>
          <a:solidFill>
            <a:schemeClr val="accent2"/>
          </a:solidFill>
          <a:ln/>
        </p:spPr>
        <p:txBody>
          <a:bodyPr wrap="square" lIns="50800" tIns="50800" rIns="50800" bIns="50800" rtlCol="0" anchor="ctr"/>
          <a:lstStyle/>
          <a:p>
            <a:pPr algn="ctr" indent="0" marL="0">
              <a:buNone/>
            </a:pPr>
            <a:r>
              <a:rPr lang="en-US" sz="1200" dirty="0">
                <a:solidFill>
                  <a:schemeClr val="bg1"/>
                </a:solidFill>
              </a:rPr>
              <a:t>Groq</a:t>
            </a:r>
            <a:endParaRPr lang="en-US" sz="1200" dirty="0"/>
          </a:p>
        </p:txBody>
      </p:sp>
      <p:sp>
        <p:nvSpPr>
          <p:cNvPr id="13" name="Shape 10"/>
          <p:cNvSpPr/>
          <p:nvPr/>
        </p:nvSpPr>
        <p:spPr>
          <a:xfrm>
            <a:off x="7299960" y="1600200"/>
            <a:ext cx="164592" cy="0"/>
          </a:xfrm>
          <a:prstGeom prst="line">
            <a:avLst/>
          </a:prstGeom>
          <a:noFill/>
          <a:ln w="22225">
            <a:solidFill>
              <a:schemeClr val="accent6"/>
            </a:solidFill>
            <a:prstDash val="solid"/>
            <a:tailEnd type="triangle"/>
          </a:ln>
        </p:spPr>
      </p:sp>
      <p:sp>
        <p:nvSpPr>
          <p:cNvPr id="14" name="box Summary + Findings"/>
          <p:cNvSpPr/>
          <p:nvPr/>
        </p:nvSpPr>
        <p:spPr>
          <a:xfrm>
            <a:off x="7482840" y="1234440"/>
            <a:ext cx="1203960" cy="731520"/>
          </a:xfrm>
          <a:prstGeom prst="roundRect">
            <a:avLst>
              <a:gd name="adj" fmla="val 10000"/>
            </a:avLst>
          </a:prstGeom>
          <a:solidFill>
            <a:schemeClr val="accent2"/>
          </a:solidFill>
          <a:ln/>
        </p:spPr>
        <p:txBody>
          <a:bodyPr wrap="square" lIns="50800" tIns="50800" rIns="50800" bIns="50800" rtlCol="0" anchor="ctr"/>
          <a:lstStyle/>
          <a:p>
            <a:pPr algn="ctr" indent="0" marL="0">
              <a:buNone/>
            </a:pPr>
            <a:r>
              <a:rPr lang="en-US" sz="1200" dirty="0">
                <a:solidFill>
                  <a:schemeClr val="bg1"/>
                </a:solidFill>
              </a:rPr>
              <a:t>Summary + Findings</a:t>
            </a:r>
            <a:endParaRPr lang="en-US" sz="1200" dirty="0"/>
          </a:p>
        </p:txBody>
      </p:sp>
      <p:sp>
        <p:nvSpPr>
          <p:cNvPr id="15" name="py card"/>
          <p:cNvSpPr/>
          <p:nvPr/>
        </p:nvSpPr>
        <p:spPr>
          <a:xfrm>
            <a:off x="457200" y="2377440"/>
            <a:ext cx="3977640" cy="2103120"/>
          </a:xfrm>
          <a:prstGeom prst="roundRect">
            <a:avLst>
              <a:gd name="adj" fmla="val 3478"/>
            </a:avLst>
          </a:prstGeom>
          <a:solidFill>
            <a:schemeClr val="bg2"/>
          </a:solidFill>
          <a:ln/>
        </p:spPr>
      </p:sp>
      <p:sp>
        <p:nvSpPr>
          <p:cNvPr id="16" name="Text 13"/>
          <p:cNvSpPr txBox="1"/>
          <p:nvPr/>
        </p:nvSpPr>
        <p:spPr>
          <a:xfrm>
            <a:off x="640080" y="2468880"/>
            <a:ext cx="3657600" cy="192024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Python does</a:t>
            </a:r>
            <a:endParaRPr lang="en-US" sz="1400" dirty="0"/>
          </a:p>
          <a:p>
            <a:pPr marL="342900" indent="-342900">
              <a:spcAft>
                <a:spcPts val="400"/>
              </a:spcAft>
              <a:buSzPct val="100000"/>
              <a:buChar char="•"/>
            </a:pPr>
            <a:r>
              <a:rPr lang="en-US" sz="1400" dirty="0">
                <a:solidFill>
                  <a:schemeClr val="tx1"/>
                </a:solidFill>
              </a:rPr>
              <a:t>esearch: query to PMIDs</a:t>
            </a:r>
            <a:endParaRPr lang="en-US" sz="1400" dirty="0"/>
          </a:p>
          <a:p>
            <a:pPr marL="342900" indent="-342900">
              <a:spcAft>
                <a:spcPts val="400"/>
              </a:spcAft>
              <a:buSzPct val="100000"/>
              <a:buChar char="•"/>
            </a:pPr>
            <a:r>
              <a:rPr lang="en-US" sz="1400" dirty="0">
                <a:solidFill>
                  <a:schemeClr val="tx1"/>
                </a:solidFill>
              </a:rPr>
              <a:t>efetch: PMIDs to XML</a:t>
            </a:r>
            <a:endParaRPr lang="en-US" sz="1400" dirty="0"/>
          </a:p>
          <a:p>
            <a:pPr marL="342900" indent="-342900">
              <a:spcAft>
                <a:spcPts val="400"/>
              </a:spcAft>
              <a:buSzPct val="100000"/>
              <a:buChar char="•"/>
            </a:pPr>
            <a:r>
              <a:rPr lang="en-US" sz="1400" dirty="0">
                <a:solidFill>
                  <a:schemeClr val="tx1"/>
                </a:solidFill>
              </a:rPr>
              <a:t>Parse title, authors, abstract, DOI</a:t>
            </a:r>
            <a:endParaRPr lang="en-US" sz="1400" dirty="0"/>
          </a:p>
          <a:p>
            <a:pPr marL="342900" indent="-342900">
              <a:spcAft>
                <a:spcPts val="400"/>
              </a:spcAft>
              <a:buSzPct val="100000"/>
              <a:buChar char="•"/>
            </a:pPr>
            <a:r>
              <a:rPr lang="en-US" sz="1400" dirty="0">
                <a:solidFill>
                  <a:schemeClr val="tx1"/>
                </a:solidFill>
              </a:rPr>
              <a:t>Download PMC figures</a:t>
            </a:r>
            <a:endParaRPr lang="en-US" sz="1400" dirty="0"/>
          </a:p>
        </p:txBody>
      </p:sp>
      <p:sp>
        <p:nvSpPr>
          <p:cNvPr id="17" name="ai card"/>
          <p:cNvSpPr/>
          <p:nvPr/>
        </p:nvSpPr>
        <p:spPr>
          <a:xfrm>
            <a:off x="4709160" y="2377440"/>
            <a:ext cx="3977640" cy="2103120"/>
          </a:xfrm>
          <a:prstGeom prst="roundRect">
            <a:avLst>
              <a:gd name="adj" fmla="val 3478"/>
            </a:avLst>
          </a:prstGeom>
          <a:solidFill>
            <a:srgbClr val="EFE9FB"/>
          </a:solidFill>
          <a:ln/>
        </p:spPr>
      </p:sp>
      <p:sp>
        <p:nvSpPr>
          <p:cNvPr id="18" name="Text 15"/>
          <p:cNvSpPr txBox="1"/>
          <p:nvPr/>
        </p:nvSpPr>
        <p:spPr>
          <a:xfrm>
            <a:off x="4892040" y="2468880"/>
            <a:ext cx="3657600" cy="192024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Groq does</a:t>
            </a:r>
            <a:endParaRPr lang="en-US" sz="1400" dirty="0"/>
          </a:p>
          <a:p>
            <a:pPr marL="342900" indent="-342900">
              <a:spcAft>
                <a:spcPts val="400"/>
              </a:spcAft>
              <a:buSzPct val="100000"/>
              <a:buChar char="•"/>
            </a:pPr>
            <a:r>
              <a:rPr lang="en-US" sz="1400" dirty="0">
                <a:solidFill>
                  <a:schemeClr val="tx1"/>
                </a:solidFill>
              </a:rPr>
              <a:t>Summary and key findings</a:t>
            </a:r>
            <a:endParaRPr lang="en-US" sz="1400" dirty="0"/>
          </a:p>
          <a:p>
            <a:pPr marL="342900" indent="-342900">
              <a:spcAft>
                <a:spcPts val="400"/>
              </a:spcAft>
              <a:buSzPct val="100000"/>
              <a:buChar char="•"/>
            </a:pPr>
            <a:r>
              <a:rPr lang="en-US" sz="1400" dirty="0">
                <a:solidFill>
                  <a:schemeClr val="tx1"/>
                </a:solidFill>
              </a:rPr>
              <a:t>Study type, population, method</a:t>
            </a:r>
            <a:endParaRPr lang="en-US" sz="1400" dirty="0"/>
          </a:p>
          <a:p>
            <a:pPr marL="342900" indent="-342900">
              <a:spcAft>
                <a:spcPts val="400"/>
              </a:spcAft>
              <a:buSzPct val="100000"/>
              <a:buChar char="•"/>
            </a:pPr>
            <a:r>
              <a:rPr lang="en-US" sz="1400" dirty="0">
                <a:solidFill>
                  <a:schemeClr val="tx1"/>
                </a:solidFill>
              </a:rPr>
              <a:t>Figure analysis: image + caption, or caption only (labelled)</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Clinical Trial Comparator</a:t>
            </a:r>
            <a:endParaRPr lang="en-US" sz="3200" dirty="0"/>
          </a:p>
        </p:txBody>
      </p:sp>
      <p:sp>
        <p:nvSpPr>
          <p:cNvPr id="4" name="box Drug + Indication"/>
          <p:cNvSpPr/>
          <p:nvPr/>
        </p:nvSpPr>
        <p:spPr>
          <a:xfrm>
            <a:off x="457200" y="1234440"/>
            <a:ext cx="1203960" cy="731520"/>
          </a:xfrm>
          <a:prstGeom prst="roundRect">
            <a:avLst>
              <a:gd name="adj" fmla="val 10000"/>
            </a:avLst>
          </a:prstGeom>
          <a:solidFill>
            <a:schemeClr val="bg2"/>
          </a:solidFill>
          <a:ln/>
        </p:spPr>
        <p:txBody>
          <a:bodyPr wrap="square" lIns="50800" tIns="50800" rIns="50800" bIns="50800" rtlCol="0" anchor="ctr"/>
          <a:lstStyle/>
          <a:p>
            <a:pPr algn="ctr" indent="0" marL="0">
              <a:buNone/>
            </a:pPr>
            <a:r>
              <a:rPr lang="en-US" sz="1200" dirty="0">
                <a:solidFill>
                  <a:schemeClr val="tx1"/>
                </a:solidFill>
              </a:rPr>
              <a:t>Drug + Indication</a:t>
            </a:r>
            <a:endParaRPr lang="en-US" sz="1200" dirty="0"/>
          </a:p>
        </p:txBody>
      </p:sp>
      <p:sp>
        <p:nvSpPr>
          <p:cNvPr id="5" name="Shape 2"/>
          <p:cNvSpPr/>
          <p:nvPr/>
        </p:nvSpPr>
        <p:spPr>
          <a:xfrm>
            <a:off x="1679448" y="1600200"/>
            <a:ext cx="164592" cy="0"/>
          </a:xfrm>
          <a:prstGeom prst="line">
            <a:avLst/>
          </a:prstGeom>
          <a:noFill/>
          <a:ln w="22225">
            <a:solidFill>
              <a:schemeClr val="accent6"/>
            </a:solidFill>
            <a:prstDash val="solid"/>
            <a:tailEnd type="triangle"/>
          </a:ln>
        </p:spPr>
      </p:sp>
      <p:sp>
        <p:nvSpPr>
          <p:cNvPr id="6" name="box ClinicalTrials.gov"/>
          <p:cNvSpPr/>
          <p:nvPr/>
        </p:nvSpPr>
        <p:spPr>
          <a:xfrm>
            <a:off x="1862328" y="1234440"/>
            <a:ext cx="12039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ClinicalTrials.gov</a:t>
            </a:r>
            <a:endParaRPr lang="en-US" sz="1200" dirty="0"/>
          </a:p>
        </p:txBody>
      </p:sp>
      <p:sp>
        <p:nvSpPr>
          <p:cNvPr id="7" name="Shape 4"/>
          <p:cNvSpPr/>
          <p:nvPr/>
        </p:nvSpPr>
        <p:spPr>
          <a:xfrm>
            <a:off x="3084576" y="1600200"/>
            <a:ext cx="164592" cy="0"/>
          </a:xfrm>
          <a:prstGeom prst="line">
            <a:avLst/>
          </a:prstGeom>
          <a:noFill/>
          <a:ln w="22225">
            <a:solidFill>
              <a:schemeClr val="accent6"/>
            </a:solidFill>
            <a:prstDash val="solid"/>
            <a:tailEnd type="triangle"/>
          </a:ln>
        </p:spPr>
      </p:sp>
      <p:sp>
        <p:nvSpPr>
          <p:cNvPr id="8" name="box Relevant Trials"/>
          <p:cNvSpPr/>
          <p:nvPr/>
        </p:nvSpPr>
        <p:spPr>
          <a:xfrm>
            <a:off x="3267456" y="1234440"/>
            <a:ext cx="12039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Relevant Trials</a:t>
            </a:r>
            <a:endParaRPr lang="en-US" sz="1200" dirty="0"/>
          </a:p>
        </p:txBody>
      </p:sp>
      <p:sp>
        <p:nvSpPr>
          <p:cNvPr id="9" name="Shape 6"/>
          <p:cNvSpPr/>
          <p:nvPr/>
        </p:nvSpPr>
        <p:spPr>
          <a:xfrm>
            <a:off x="4489704" y="1600200"/>
            <a:ext cx="164592" cy="0"/>
          </a:xfrm>
          <a:prstGeom prst="line">
            <a:avLst/>
          </a:prstGeom>
          <a:noFill/>
          <a:ln w="22225">
            <a:solidFill>
              <a:schemeClr val="accent6"/>
            </a:solidFill>
            <a:prstDash val="solid"/>
            <a:tailEnd type="triangle"/>
          </a:ln>
        </p:spPr>
      </p:sp>
      <p:sp>
        <p:nvSpPr>
          <p:cNvPr id="10" name="box Structured Data"/>
          <p:cNvSpPr/>
          <p:nvPr/>
        </p:nvSpPr>
        <p:spPr>
          <a:xfrm>
            <a:off x="4672584" y="1234440"/>
            <a:ext cx="12039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Structured Data</a:t>
            </a:r>
            <a:endParaRPr lang="en-US" sz="1200" dirty="0"/>
          </a:p>
        </p:txBody>
      </p:sp>
      <p:sp>
        <p:nvSpPr>
          <p:cNvPr id="11" name="Shape 8"/>
          <p:cNvSpPr/>
          <p:nvPr/>
        </p:nvSpPr>
        <p:spPr>
          <a:xfrm>
            <a:off x="5894832" y="1600200"/>
            <a:ext cx="164592" cy="0"/>
          </a:xfrm>
          <a:prstGeom prst="line">
            <a:avLst/>
          </a:prstGeom>
          <a:noFill/>
          <a:ln w="22225">
            <a:solidFill>
              <a:schemeClr val="accent6"/>
            </a:solidFill>
            <a:prstDash val="solid"/>
            <a:tailEnd type="triangle"/>
          </a:ln>
        </p:spPr>
      </p:sp>
      <p:sp>
        <p:nvSpPr>
          <p:cNvPr id="12" name="box Groq"/>
          <p:cNvSpPr/>
          <p:nvPr/>
        </p:nvSpPr>
        <p:spPr>
          <a:xfrm>
            <a:off x="6077712" y="1234440"/>
            <a:ext cx="1203960" cy="731520"/>
          </a:xfrm>
          <a:prstGeom prst="roundRect">
            <a:avLst>
              <a:gd name="adj" fmla="val 10000"/>
            </a:avLst>
          </a:prstGeom>
          <a:solidFill>
            <a:schemeClr val="accent2"/>
          </a:solidFill>
          <a:ln/>
        </p:spPr>
        <p:txBody>
          <a:bodyPr wrap="square" lIns="50800" tIns="50800" rIns="50800" bIns="50800" rtlCol="0" anchor="ctr"/>
          <a:lstStyle/>
          <a:p>
            <a:pPr algn="ctr" indent="0" marL="0">
              <a:buNone/>
            </a:pPr>
            <a:r>
              <a:rPr lang="en-US" sz="1200" dirty="0">
                <a:solidFill>
                  <a:schemeClr val="bg1"/>
                </a:solidFill>
              </a:rPr>
              <a:t>Groq</a:t>
            </a:r>
            <a:endParaRPr lang="en-US" sz="1200" dirty="0"/>
          </a:p>
        </p:txBody>
      </p:sp>
      <p:sp>
        <p:nvSpPr>
          <p:cNvPr id="13" name="Shape 10"/>
          <p:cNvSpPr/>
          <p:nvPr/>
        </p:nvSpPr>
        <p:spPr>
          <a:xfrm>
            <a:off x="7299960" y="1600200"/>
            <a:ext cx="164592" cy="0"/>
          </a:xfrm>
          <a:prstGeom prst="line">
            <a:avLst/>
          </a:prstGeom>
          <a:noFill/>
          <a:ln w="22225">
            <a:solidFill>
              <a:schemeClr val="accent6"/>
            </a:solidFill>
            <a:prstDash val="solid"/>
            <a:tailEnd type="triangle"/>
          </a:ln>
        </p:spPr>
      </p:sp>
      <p:sp>
        <p:nvSpPr>
          <p:cNvPr id="14" name="box Comparison Table"/>
          <p:cNvSpPr/>
          <p:nvPr/>
        </p:nvSpPr>
        <p:spPr>
          <a:xfrm>
            <a:off x="7482840" y="1234440"/>
            <a:ext cx="1203960" cy="731520"/>
          </a:xfrm>
          <a:prstGeom prst="roundRect">
            <a:avLst>
              <a:gd name="adj" fmla="val 10000"/>
            </a:avLst>
          </a:prstGeom>
          <a:solidFill>
            <a:schemeClr val="accent1"/>
          </a:solidFill>
          <a:ln/>
        </p:spPr>
        <p:txBody>
          <a:bodyPr wrap="square" lIns="50800" tIns="50800" rIns="50800" bIns="50800" rtlCol="0" anchor="ctr"/>
          <a:lstStyle/>
          <a:p>
            <a:pPr algn="ctr" indent="0" marL="0">
              <a:buNone/>
            </a:pPr>
            <a:r>
              <a:rPr lang="en-US" sz="1200" dirty="0">
                <a:solidFill>
                  <a:schemeClr val="bg1"/>
                </a:solidFill>
              </a:rPr>
              <a:t>Comparison Table</a:t>
            </a:r>
            <a:endParaRPr lang="en-US" sz="1200" dirty="0"/>
          </a:p>
        </p:txBody>
      </p:sp>
      <p:sp>
        <p:nvSpPr>
          <p:cNvPr id="15" name="py card"/>
          <p:cNvSpPr/>
          <p:nvPr/>
        </p:nvSpPr>
        <p:spPr>
          <a:xfrm>
            <a:off x="457200" y="2377440"/>
            <a:ext cx="3977640" cy="2103120"/>
          </a:xfrm>
          <a:prstGeom prst="roundRect">
            <a:avLst>
              <a:gd name="adj" fmla="val 3478"/>
            </a:avLst>
          </a:prstGeom>
          <a:solidFill>
            <a:schemeClr val="bg2"/>
          </a:solidFill>
          <a:ln/>
        </p:spPr>
      </p:sp>
      <p:sp>
        <p:nvSpPr>
          <p:cNvPr id="16" name="Text 13"/>
          <p:cNvSpPr txBox="1"/>
          <p:nvPr/>
        </p:nvSpPr>
        <p:spPr>
          <a:xfrm>
            <a:off x="640080" y="2468880"/>
            <a:ext cx="3657600" cy="192024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Python extracts</a:t>
            </a:r>
            <a:endParaRPr lang="en-US" sz="1400" dirty="0"/>
          </a:p>
          <a:p>
            <a:pPr marL="342900" indent="-342900">
              <a:spcAft>
                <a:spcPts val="400"/>
              </a:spcAft>
              <a:buSzPct val="100000"/>
              <a:buChar char="•"/>
            </a:pPr>
            <a:r>
              <a:rPr lang="en-US" sz="1400" dirty="0">
                <a:solidFill>
                  <a:schemeClr val="tx1"/>
                </a:solidFill>
              </a:rPr>
              <a:t>Drugs, doses, arms, phase, design</a:t>
            </a:r>
            <a:endParaRPr lang="en-US" sz="1400" dirty="0"/>
          </a:p>
          <a:p>
            <a:pPr marL="342900" indent="-342900">
              <a:spcAft>
                <a:spcPts val="400"/>
              </a:spcAft>
              <a:buSzPct val="100000"/>
              <a:buChar char="•"/>
            </a:pPr>
            <a:r>
              <a:rPr lang="en-US" sz="1400" dirty="0">
                <a:solidFill>
                  <a:schemeClr val="tx1"/>
                </a:solidFill>
              </a:rPr>
              <a:t>Criteria, outcomes, duration</a:t>
            </a:r>
            <a:endParaRPr lang="en-US" sz="1400" dirty="0"/>
          </a:p>
          <a:p>
            <a:pPr marL="342900" indent="-342900">
              <a:spcAft>
                <a:spcPts val="400"/>
              </a:spcAft>
              <a:buSzPct val="100000"/>
              <a:buChar char="•"/>
            </a:pPr>
            <a:r>
              <a:rPr lang="en-US" sz="1400" dirty="0">
                <a:solidFill>
                  <a:schemeClr val="tx1"/>
                </a:solidFill>
              </a:rPr>
              <a:t>Sites, sponsor, age, sex, dates</a:t>
            </a:r>
            <a:endParaRPr lang="en-US" sz="1400" dirty="0"/>
          </a:p>
          <a:p>
            <a:pPr marL="342900" indent="-342900">
              <a:spcAft>
                <a:spcPts val="400"/>
              </a:spcAft>
              <a:buSzPct val="100000"/>
              <a:buChar char="•"/>
            </a:pPr>
            <a:r>
              <a:rPr lang="en-US" sz="1400" dirty="0">
                <a:solidFill>
                  <a:schemeClr val="tx1"/>
                </a:solidFill>
              </a:rPr>
              <a:t>Table + highlights differences</a:t>
            </a:r>
            <a:endParaRPr lang="en-US" sz="1400" dirty="0"/>
          </a:p>
        </p:txBody>
      </p:sp>
      <p:sp>
        <p:nvSpPr>
          <p:cNvPr id="17" name="ai card"/>
          <p:cNvSpPr/>
          <p:nvPr/>
        </p:nvSpPr>
        <p:spPr>
          <a:xfrm>
            <a:off x="4709160" y="2377440"/>
            <a:ext cx="3977640" cy="2103120"/>
          </a:xfrm>
          <a:prstGeom prst="roundRect">
            <a:avLst>
              <a:gd name="adj" fmla="val 3478"/>
            </a:avLst>
          </a:prstGeom>
          <a:solidFill>
            <a:srgbClr val="EFE9FB"/>
          </a:solidFill>
          <a:ln/>
        </p:spPr>
      </p:sp>
      <p:sp>
        <p:nvSpPr>
          <p:cNvPr id="18" name="Text 15"/>
          <p:cNvSpPr txBox="1"/>
          <p:nvPr/>
        </p:nvSpPr>
        <p:spPr>
          <a:xfrm>
            <a:off x="4892040" y="2468880"/>
            <a:ext cx="3657600" cy="192024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Groq answers 7 questions</a:t>
            </a:r>
            <a:endParaRPr lang="en-US" sz="1400" dirty="0"/>
          </a:p>
          <a:p>
            <a:pPr marL="342900" indent="-342900">
              <a:spcAft>
                <a:spcPts val="400"/>
              </a:spcAft>
              <a:buSzPct val="100000"/>
              <a:buChar char="•"/>
            </a:pPr>
            <a:r>
              <a:rPr lang="en-US" sz="1400" dirty="0">
                <a:solidFill>
                  <a:schemeClr val="tx1"/>
                </a:solidFill>
              </a:rPr>
              <a:t>What is it investigating?</a:t>
            </a:r>
            <a:endParaRPr lang="en-US" sz="1400" dirty="0"/>
          </a:p>
          <a:p>
            <a:pPr marL="342900" indent="-342900">
              <a:spcAft>
                <a:spcPts val="400"/>
              </a:spcAft>
              <a:buSzPct val="100000"/>
              <a:buChar char="•"/>
            </a:pPr>
            <a:r>
              <a:rPr lang="en-US" sz="1400" dirty="0">
                <a:solidFill>
                  <a:schemeClr val="tx1"/>
                </a:solidFill>
              </a:rPr>
              <a:t>Which drug, indication, population?</a:t>
            </a:r>
            <a:endParaRPr lang="en-US" sz="1400" dirty="0"/>
          </a:p>
          <a:p>
            <a:pPr marL="342900" indent="-342900">
              <a:spcAft>
                <a:spcPts val="400"/>
              </a:spcAft>
              <a:buSzPct val="100000"/>
              <a:buChar char="•"/>
            </a:pPr>
            <a:r>
              <a:rPr lang="en-US" sz="1400" dirty="0">
                <a:solidFill>
                  <a:schemeClr val="tx1"/>
                </a:solidFill>
              </a:rPr>
              <a:t>Primary objective</a:t>
            </a:r>
            <a:endParaRPr lang="en-US" sz="1400" dirty="0"/>
          </a:p>
          <a:p>
            <a:pPr marL="342900" indent="-342900">
              <a:spcAft>
                <a:spcPts val="400"/>
              </a:spcAft>
              <a:buSzPct val="100000"/>
              <a:buChar char="•"/>
            </a:pPr>
            <a:r>
              <a:rPr lang="en-US" sz="1400" dirty="0">
                <a:solidFill>
                  <a:schemeClr val="tx1"/>
                </a:solidFill>
              </a:rPr>
              <a:t>What is different? Which stage?</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Database Design</a:t>
            </a:r>
            <a:endParaRPr lang="en-US" sz="3200" dirty="0"/>
          </a:p>
        </p:txBody>
      </p:sp>
      <p:sp>
        <p:nvSpPr>
          <p:cNvPr id="4" name="Text 1"/>
          <p:cNvSpPr txBox="1"/>
          <p:nvPr/>
        </p:nvSpPr>
        <p:spPr>
          <a:xfrm>
            <a:off x="457200" y="1097280"/>
            <a:ext cx="2560320" cy="274320"/>
          </a:xfrm>
          <a:prstGeom prst="rect">
            <a:avLst/>
          </a:prstGeom>
          <a:noFill/>
          <a:ln/>
        </p:spPr>
        <p:txBody>
          <a:bodyPr wrap="square" lIns="0" tIns="0" rIns="0" bIns="0" rtlCol="0" anchor="ctr"/>
          <a:lstStyle/>
          <a:p>
            <a:pPr indent="0" marL="0">
              <a:buNone/>
            </a:pPr>
            <a:r>
              <a:rPr lang="en-US" sz="1400" b="1" dirty="0">
                <a:solidFill>
                  <a:schemeClr val="tx2"/>
                </a:solidFill>
              </a:rPr>
              <a:t>NCT tracking</a:t>
            </a:r>
            <a:endParaRPr lang="en-US" sz="1400" dirty="0"/>
          </a:p>
        </p:txBody>
      </p:sp>
      <p:sp>
        <p:nvSpPr>
          <p:cNvPr id="5" name="box NCTStudy"/>
          <p:cNvSpPr/>
          <p:nvPr/>
        </p:nvSpPr>
        <p:spPr>
          <a:xfrm>
            <a:off x="457200" y="1417320"/>
            <a:ext cx="2560320" cy="502920"/>
          </a:xfrm>
          <a:prstGeom prst="roundRect">
            <a:avLst>
              <a:gd name="adj" fmla="val 14545"/>
            </a:avLst>
          </a:prstGeom>
          <a:solidFill>
            <a:schemeClr val="tx2"/>
          </a:solidFill>
          <a:ln/>
        </p:spPr>
        <p:txBody>
          <a:bodyPr wrap="square" lIns="50800" tIns="50800" rIns="50800" bIns="50800" rtlCol="0" anchor="ctr"/>
          <a:lstStyle/>
          <a:p>
            <a:pPr algn="ctr" indent="0" marL="0">
              <a:buNone/>
            </a:pPr>
            <a:r>
              <a:rPr lang="en-US" sz="1500" dirty="0">
                <a:solidFill>
                  <a:schemeClr val="bg1"/>
                </a:solidFill>
              </a:rPr>
              <a:t>NCTStudy</a:t>
            </a:r>
            <a:endParaRPr lang="en-US" sz="1500" dirty="0"/>
          </a:p>
        </p:txBody>
      </p:sp>
      <p:sp>
        <p:nvSpPr>
          <p:cNvPr id="6" name="Shape 3"/>
          <p:cNvSpPr/>
          <p:nvPr/>
        </p:nvSpPr>
        <p:spPr>
          <a:xfrm>
            <a:off x="731520" y="1938528"/>
            <a:ext cx="0" cy="1143000"/>
          </a:xfrm>
          <a:prstGeom prst="line">
            <a:avLst/>
          </a:prstGeom>
          <a:noFill/>
          <a:ln w="22225">
            <a:solidFill>
              <a:schemeClr val="accent6"/>
            </a:solidFill>
            <a:prstDash val="solid"/>
          </a:ln>
        </p:spPr>
      </p:sp>
      <p:sp>
        <p:nvSpPr>
          <p:cNvPr id="7" name="Shape 4"/>
          <p:cNvSpPr/>
          <p:nvPr/>
        </p:nvSpPr>
        <p:spPr>
          <a:xfrm>
            <a:off x="731520" y="2514600"/>
            <a:ext cx="182880" cy="0"/>
          </a:xfrm>
          <a:prstGeom prst="line">
            <a:avLst/>
          </a:prstGeom>
          <a:noFill/>
          <a:ln w="22225">
            <a:solidFill>
              <a:schemeClr val="accent6"/>
            </a:solidFill>
            <a:prstDash val="solid"/>
            <a:tailEnd type="triangle"/>
          </a:ln>
        </p:spPr>
      </p:sp>
      <p:sp>
        <p:nvSpPr>
          <p:cNvPr id="8" name="box NCTVersion"/>
          <p:cNvSpPr/>
          <p:nvPr/>
        </p:nvSpPr>
        <p:spPr>
          <a:xfrm>
            <a:off x="914400" y="2286000"/>
            <a:ext cx="210312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400" dirty="0">
                <a:solidFill>
                  <a:schemeClr val="bg1"/>
                </a:solidFill>
              </a:rPr>
              <a:t>NCTVersion</a:t>
            </a:r>
            <a:endParaRPr lang="en-US" sz="1400" dirty="0"/>
          </a:p>
        </p:txBody>
      </p:sp>
      <p:sp>
        <p:nvSpPr>
          <p:cNvPr id="9" name="Shape 6"/>
          <p:cNvSpPr/>
          <p:nvPr/>
        </p:nvSpPr>
        <p:spPr>
          <a:xfrm>
            <a:off x="731520" y="3081528"/>
            <a:ext cx="182880" cy="0"/>
          </a:xfrm>
          <a:prstGeom prst="line">
            <a:avLst/>
          </a:prstGeom>
          <a:noFill/>
          <a:ln w="22225">
            <a:solidFill>
              <a:schemeClr val="accent6"/>
            </a:solidFill>
            <a:prstDash val="solid"/>
            <a:tailEnd type="triangle"/>
          </a:ln>
        </p:spPr>
      </p:sp>
      <p:sp>
        <p:nvSpPr>
          <p:cNvPr id="10" name="box NCTChange"/>
          <p:cNvSpPr/>
          <p:nvPr/>
        </p:nvSpPr>
        <p:spPr>
          <a:xfrm>
            <a:off x="914400" y="2852928"/>
            <a:ext cx="210312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400" dirty="0">
                <a:solidFill>
                  <a:schemeClr val="bg1"/>
                </a:solidFill>
              </a:rPr>
              <a:t>NCTChange</a:t>
            </a:r>
            <a:endParaRPr lang="en-US" sz="1400" dirty="0"/>
          </a:p>
        </p:txBody>
      </p:sp>
      <p:sp>
        <p:nvSpPr>
          <p:cNvPr id="11" name="Text 8"/>
          <p:cNvSpPr txBox="1"/>
          <p:nvPr/>
        </p:nvSpPr>
        <p:spPr>
          <a:xfrm>
            <a:off x="3246120" y="1097280"/>
            <a:ext cx="2560320" cy="274320"/>
          </a:xfrm>
          <a:prstGeom prst="rect">
            <a:avLst/>
          </a:prstGeom>
          <a:noFill/>
          <a:ln/>
        </p:spPr>
        <p:txBody>
          <a:bodyPr wrap="square" lIns="0" tIns="0" rIns="0" bIns="0" rtlCol="0" anchor="ctr"/>
          <a:lstStyle/>
          <a:p>
            <a:pPr indent="0" marL="0">
              <a:buNone/>
            </a:pPr>
            <a:r>
              <a:rPr lang="en-US" sz="1400" b="1" dirty="0">
                <a:solidFill>
                  <a:schemeClr val="tx2"/>
                </a:solidFill>
              </a:rPr>
              <a:t>PubMed</a:t>
            </a:r>
            <a:endParaRPr lang="en-US" sz="1400" dirty="0"/>
          </a:p>
        </p:txBody>
      </p:sp>
      <p:sp>
        <p:nvSpPr>
          <p:cNvPr id="12" name="box Publication"/>
          <p:cNvSpPr/>
          <p:nvPr/>
        </p:nvSpPr>
        <p:spPr>
          <a:xfrm>
            <a:off x="3246120" y="1417320"/>
            <a:ext cx="2560320" cy="502920"/>
          </a:xfrm>
          <a:prstGeom prst="roundRect">
            <a:avLst>
              <a:gd name="adj" fmla="val 14545"/>
            </a:avLst>
          </a:prstGeom>
          <a:solidFill>
            <a:schemeClr val="tx2"/>
          </a:solidFill>
          <a:ln/>
        </p:spPr>
        <p:txBody>
          <a:bodyPr wrap="square" lIns="50800" tIns="50800" rIns="50800" bIns="50800" rtlCol="0" anchor="ctr"/>
          <a:lstStyle/>
          <a:p>
            <a:pPr algn="ctr" indent="0" marL="0">
              <a:buNone/>
            </a:pPr>
            <a:r>
              <a:rPr lang="en-US" sz="1500" dirty="0">
                <a:solidFill>
                  <a:schemeClr val="bg1"/>
                </a:solidFill>
              </a:rPr>
              <a:t>Publication</a:t>
            </a:r>
            <a:endParaRPr lang="en-US" sz="1500" dirty="0"/>
          </a:p>
        </p:txBody>
      </p:sp>
      <p:sp>
        <p:nvSpPr>
          <p:cNvPr id="13" name="Shape 10"/>
          <p:cNvSpPr/>
          <p:nvPr/>
        </p:nvSpPr>
        <p:spPr>
          <a:xfrm>
            <a:off x="3520440" y="1938528"/>
            <a:ext cx="0" cy="1709928"/>
          </a:xfrm>
          <a:prstGeom prst="line">
            <a:avLst/>
          </a:prstGeom>
          <a:noFill/>
          <a:ln w="22225">
            <a:solidFill>
              <a:schemeClr val="accent6"/>
            </a:solidFill>
            <a:prstDash val="solid"/>
          </a:ln>
        </p:spPr>
      </p:sp>
      <p:sp>
        <p:nvSpPr>
          <p:cNvPr id="14" name="Shape 11"/>
          <p:cNvSpPr/>
          <p:nvPr/>
        </p:nvSpPr>
        <p:spPr>
          <a:xfrm>
            <a:off x="3520440" y="2514600"/>
            <a:ext cx="182880" cy="0"/>
          </a:xfrm>
          <a:prstGeom prst="line">
            <a:avLst/>
          </a:prstGeom>
          <a:noFill/>
          <a:ln w="22225">
            <a:solidFill>
              <a:schemeClr val="accent6"/>
            </a:solidFill>
            <a:prstDash val="solid"/>
            <a:tailEnd type="triangle"/>
          </a:ln>
        </p:spPr>
      </p:sp>
      <p:sp>
        <p:nvSpPr>
          <p:cNvPr id="15" name="box Author"/>
          <p:cNvSpPr/>
          <p:nvPr/>
        </p:nvSpPr>
        <p:spPr>
          <a:xfrm>
            <a:off x="3703320" y="2286000"/>
            <a:ext cx="2103120" cy="457200"/>
          </a:xfrm>
          <a:prstGeom prst="roundRect">
            <a:avLst>
              <a:gd name="adj" fmla="val 16000"/>
            </a:avLst>
          </a:prstGeom>
          <a:solidFill>
            <a:schemeClr val="accent2"/>
          </a:solidFill>
          <a:ln/>
        </p:spPr>
        <p:txBody>
          <a:bodyPr wrap="square" lIns="50800" tIns="50800" rIns="50800" bIns="50800" rtlCol="0" anchor="ctr"/>
          <a:lstStyle/>
          <a:p>
            <a:pPr algn="ctr" indent="0" marL="0">
              <a:buNone/>
            </a:pPr>
            <a:r>
              <a:rPr lang="en-US" sz="1400" dirty="0">
                <a:solidFill>
                  <a:schemeClr val="bg1"/>
                </a:solidFill>
              </a:rPr>
              <a:t>Author</a:t>
            </a:r>
            <a:endParaRPr lang="en-US" sz="1400" dirty="0"/>
          </a:p>
        </p:txBody>
      </p:sp>
      <p:sp>
        <p:nvSpPr>
          <p:cNvPr id="16" name="Shape 13"/>
          <p:cNvSpPr/>
          <p:nvPr/>
        </p:nvSpPr>
        <p:spPr>
          <a:xfrm>
            <a:off x="3520440" y="3081528"/>
            <a:ext cx="182880" cy="0"/>
          </a:xfrm>
          <a:prstGeom prst="line">
            <a:avLst/>
          </a:prstGeom>
          <a:noFill/>
          <a:ln w="22225">
            <a:solidFill>
              <a:schemeClr val="accent6"/>
            </a:solidFill>
            <a:prstDash val="solid"/>
            <a:tailEnd type="triangle"/>
          </a:ln>
        </p:spPr>
      </p:sp>
      <p:sp>
        <p:nvSpPr>
          <p:cNvPr id="17" name="box Figure"/>
          <p:cNvSpPr/>
          <p:nvPr/>
        </p:nvSpPr>
        <p:spPr>
          <a:xfrm>
            <a:off x="3703320" y="2852928"/>
            <a:ext cx="2103120" cy="457200"/>
          </a:xfrm>
          <a:prstGeom prst="roundRect">
            <a:avLst>
              <a:gd name="adj" fmla="val 16000"/>
            </a:avLst>
          </a:prstGeom>
          <a:solidFill>
            <a:schemeClr val="accent2"/>
          </a:solidFill>
          <a:ln/>
        </p:spPr>
        <p:txBody>
          <a:bodyPr wrap="square" lIns="50800" tIns="50800" rIns="50800" bIns="50800" rtlCol="0" anchor="ctr"/>
          <a:lstStyle/>
          <a:p>
            <a:pPr algn="ctr" indent="0" marL="0">
              <a:buNone/>
            </a:pPr>
            <a:r>
              <a:rPr lang="en-US" sz="1400" dirty="0">
                <a:solidFill>
                  <a:schemeClr val="bg1"/>
                </a:solidFill>
              </a:rPr>
              <a:t>Figure</a:t>
            </a:r>
            <a:endParaRPr lang="en-US" sz="1400" dirty="0"/>
          </a:p>
        </p:txBody>
      </p:sp>
      <p:sp>
        <p:nvSpPr>
          <p:cNvPr id="18" name="Shape 15"/>
          <p:cNvSpPr/>
          <p:nvPr/>
        </p:nvSpPr>
        <p:spPr>
          <a:xfrm>
            <a:off x="3520440" y="3648456"/>
            <a:ext cx="182880" cy="0"/>
          </a:xfrm>
          <a:prstGeom prst="line">
            <a:avLst/>
          </a:prstGeom>
          <a:noFill/>
          <a:ln w="22225">
            <a:solidFill>
              <a:schemeClr val="accent6"/>
            </a:solidFill>
            <a:prstDash val="solid"/>
            <a:tailEnd type="triangle"/>
          </a:ln>
        </p:spPr>
      </p:sp>
      <p:sp>
        <p:nvSpPr>
          <p:cNvPr id="19" name="box AIAnalysis"/>
          <p:cNvSpPr/>
          <p:nvPr/>
        </p:nvSpPr>
        <p:spPr>
          <a:xfrm>
            <a:off x="3703320" y="3419856"/>
            <a:ext cx="2103120" cy="457200"/>
          </a:xfrm>
          <a:prstGeom prst="roundRect">
            <a:avLst>
              <a:gd name="adj" fmla="val 16000"/>
            </a:avLst>
          </a:prstGeom>
          <a:solidFill>
            <a:schemeClr val="accent2"/>
          </a:solidFill>
          <a:ln/>
        </p:spPr>
        <p:txBody>
          <a:bodyPr wrap="square" lIns="50800" tIns="50800" rIns="50800" bIns="50800" rtlCol="0" anchor="ctr"/>
          <a:lstStyle/>
          <a:p>
            <a:pPr algn="ctr" indent="0" marL="0">
              <a:buNone/>
            </a:pPr>
            <a:r>
              <a:rPr lang="en-US" sz="1400" dirty="0">
                <a:solidFill>
                  <a:schemeClr val="bg1"/>
                </a:solidFill>
              </a:rPr>
              <a:t>AIAnalysis</a:t>
            </a:r>
            <a:endParaRPr lang="en-US" sz="1400" dirty="0"/>
          </a:p>
        </p:txBody>
      </p:sp>
      <p:sp>
        <p:nvSpPr>
          <p:cNvPr id="20" name="Text 17"/>
          <p:cNvSpPr txBox="1"/>
          <p:nvPr/>
        </p:nvSpPr>
        <p:spPr>
          <a:xfrm>
            <a:off x="6035040" y="1097280"/>
            <a:ext cx="2560320" cy="274320"/>
          </a:xfrm>
          <a:prstGeom prst="rect">
            <a:avLst/>
          </a:prstGeom>
          <a:noFill/>
          <a:ln/>
        </p:spPr>
        <p:txBody>
          <a:bodyPr wrap="square" lIns="0" tIns="0" rIns="0" bIns="0" rtlCol="0" anchor="ctr"/>
          <a:lstStyle/>
          <a:p>
            <a:pPr indent="0" marL="0">
              <a:buNone/>
            </a:pPr>
            <a:r>
              <a:rPr lang="en-US" sz="1400" b="1" dirty="0">
                <a:solidFill>
                  <a:schemeClr val="tx2"/>
                </a:solidFill>
              </a:rPr>
              <a:t>Trials</a:t>
            </a:r>
            <a:endParaRPr lang="en-US" sz="1400" dirty="0"/>
          </a:p>
        </p:txBody>
      </p:sp>
      <p:sp>
        <p:nvSpPr>
          <p:cNvPr id="21" name="box ClinicalTrial"/>
          <p:cNvSpPr/>
          <p:nvPr/>
        </p:nvSpPr>
        <p:spPr>
          <a:xfrm>
            <a:off x="6035040" y="1417320"/>
            <a:ext cx="2560320" cy="502920"/>
          </a:xfrm>
          <a:prstGeom prst="roundRect">
            <a:avLst>
              <a:gd name="adj" fmla="val 14545"/>
            </a:avLst>
          </a:prstGeom>
          <a:solidFill>
            <a:schemeClr val="tx2"/>
          </a:solidFill>
          <a:ln/>
        </p:spPr>
        <p:txBody>
          <a:bodyPr wrap="square" lIns="50800" tIns="50800" rIns="50800" bIns="50800" rtlCol="0" anchor="ctr"/>
          <a:lstStyle/>
          <a:p>
            <a:pPr algn="ctr" indent="0" marL="0">
              <a:buNone/>
            </a:pPr>
            <a:r>
              <a:rPr lang="en-US" sz="1500" dirty="0">
                <a:solidFill>
                  <a:schemeClr val="bg1"/>
                </a:solidFill>
              </a:rPr>
              <a:t>ClinicalTrial</a:t>
            </a:r>
            <a:endParaRPr lang="en-US" sz="1500" dirty="0"/>
          </a:p>
        </p:txBody>
      </p:sp>
      <p:sp>
        <p:nvSpPr>
          <p:cNvPr id="22" name="Shape 19"/>
          <p:cNvSpPr/>
          <p:nvPr/>
        </p:nvSpPr>
        <p:spPr>
          <a:xfrm>
            <a:off x="6309360" y="1938528"/>
            <a:ext cx="0" cy="576072"/>
          </a:xfrm>
          <a:prstGeom prst="line">
            <a:avLst/>
          </a:prstGeom>
          <a:noFill/>
          <a:ln w="22225">
            <a:solidFill>
              <a:schemeClr val="accent6"/>
            </a:solidFill>
            <a:prstDash val="solid"/>
          </a:ln>
        </p:spPr>
      </p:sp>
      <p:sp>
        <p:nvSpPr>
          <p:cNvPr id="23" name="Shape 20"/>
          <p:cNvSpPr/>
          <p:nvPr/>
        </p:nvSpPr>
        <p:spPr>
          <a:xfrm>
            <a:off x="6309360" y="2514600"/>
            <a:ext cx="182880" cy="0"/>
          </a:xfrm>
          <a:prstGeom prst="line">
            <a:avLst/>
          </a:prstGeom>
          <a:noFill/>
          <a:ln w="22225">
            <a:solidFill>
              <a:schemeClr val="accent6"/>
            </a:solidFill>
            <a:prstDash val="solid"/>
            <a:tailEnd type="triangle"/>
          </a:ln>
        </p:spPr>
      </p:sp>
      <p:sp>
        <p:nvSpPr>
          <p:cNvPr id="24" name="box TrialAnalysis"/>
          <p:cNvSpPr/>
          <p:nvPr/>
        </p:nvSpPr>
        <p:spPr>
          <a:xfrm>
            <a:off x="6492240" y="2286000"/>
            <a:ext cx="2103120" cy="457200"/>
          </a:xfrm>
          <a:prstGeom prst="roundRect">
            <a:avLst>
              <a:gd name="adj" fmla="val 16000"/>
            </a:avLst>
          </a:prstGeom>
          <a:solidFill>
            <a:schemeClr val="accent1"/>
          </a:solidFill>
          <a:ln/>
        </p:spPr>
        <p:txBody>
          <a:bodyPr wrap="square" lIns="50800" tIns="50800" rIns="50800" bIns="50800" rtlCol="0" anchor="ctr"/>
          <a:lstStyle/>
          <a:p>
            <a:pPr algn="ctr" indent="0" marL="0">
              <a:buNone/>
            </a:pPr>
            <a:r>
              <a:rPr lang="en-US" sz="1400" dirty="0">
                <a:solidFill>
                  <a:schemeClr val="bg1"/>
                </a:solidFill>
              </a:rPr>
              <a:t>TrialAnalysis</a:t>
            </a:r>
            <a:endParaRPr lang="en-US" sz="1400" dirty="0"/>
          </a:p>
        </p:txBody>
      </p:sp>
      <p:sp>
        <p:nvSpPr>
          <p:cNvPr id="25" name="Text 22"/>
          <p:cNvSpPr txBox="1"/>
          <p:nvPr/>
        </p:nvSpPr>
        <p:spPr>
          <a:xfrm>
            <a:off x="457200" y="4023360"/>
            <a:ext cx="8229600" cy="594360"/>
          </a:xfrm>
          <a:prstGeom prst="rect">
            <a:avLst/>
          </a:prstGeom>
          <a:noFill/>
          <a:ln/>
        </p:spPr>
        <p:txBody>
          <a:bodyPr wrap="square" lIns="0" tIns="0" rIns="0" bIns="0" rtlCol="0" anchor="ctr"/>
          <a:lstStyle/>
          <a:p>
            <a:pPr indent="0" marL="0">
              <a:buNone/>
            </a:pPr>
            <a:r>
              <a:rPr lang="en-US" sz="1400" dirty="0">
                <a:solidFill>
                  <a:schemeClr val="tx1"/>
                </a:solidFill>
              </a:rPr>
              <a:t>One study has many versions and changes · one publication has many authors, figures and AI analyses · one trial has analyses. Images are files; the database stores only the path.</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API Architecture</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914400"/>
                <a:gridCol w="2926080"/>
                <a:gridCol w="4389120"/>
              </a:tblGrid>
              <a:tr h="384048">
                <a:tc>
                  <a:txBody>
                    <a:bodyPr/>
                    <a:lstStyle/>
                    <a:p>
                      <a:pPr indent="0" marL="0">
                        <a:buNone/>
                      </a:pPr>
                      <a:r>
                        <a:rPr lang="en-US" sz="1300" b="1" dirty="0">
                          <a:solidFill>
                            <a:schemeClr val="bg1"/>
                          </a:solidFill>
                        </a:rPr>
                        <a:t>Method</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Endpoint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it does</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tx2"/>
                    </a:solidFill>
                  </a:tcPr>
                </a:tc>
              </a:tr>
              <a:tr h="384048">
                <a:tc>
                  <a:txBody>
                    <a:bodyPr/>
                    <a:lstStyle/>
                    <a:p>
                      <a:pPr indent="0" marL="0">
                        <a:buNone/>
                      </a:pPr>
                      <a:r>
                        <a:rPr lang="en-US" sz="1300" b="1" dirty="0">
                          <a:solidFill>
                            <a:schemeClr val="tx1"/>
                          </a:solidFill>
                        </a:rPr>
                        <a:t>POST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/api/nct/compare</a:t>
                      </a:r>
                      <a:endParaRPr lang="en-US" sz="1300" dirty="0">
                        <a:latin typeface="Courier New" charset="0"/>
                        <a:ea typeface="Courier New" charset="0"/>
                        <a:cs typeface="Courier New"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Two HTML files in, change log out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POST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/api/nct/fetch</a:t>
                      </a:r>
                      <a:endParaRPr lang="en-US" sz="1300" dirty="0">
                        <a:latin typeface="Courier New" charset="0"/>
                        <a:ea typeface="Courier New" charset="0"/>
                        <a:cs typeface="Courier New"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URL in, stores a version and compares</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GET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/api/pubmed/search</a:t>
                      </a:r>
                      <a:endParaRPr lang="en-US" sz="1300" dirty="0">
                        <a:latin typeface="Courier New" charset="0"/>
                        <a:ea typeface="Courier New" charset="0"/>
                        <a:cs typeface="Courier New"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Searches PubMed and saves articles</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POST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/api/pubmed/analyze</a:t>
                      </a:r>
                      <a:endParaRPr lang="en-US" sz="1300" dirty="0">
                        <a:latin typeface="Courier New" charset="0"/>
                        <a:ea typeface="Courier New" charset="0"/>
                        <a:cs typeface="Courier New"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Abstract to Groq summary</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GET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/api/trials/search</a:t>
                      </a:r>
                      <a:endParaRPr lang="en-US" sz="1300" dirty="0">
                        <a:latin typeface="Courier New" charset="0"/>
                        <a:ea typeface="Courier New" charset="0"/>
                        <a:cs typeface="Courier New"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Drug + indication to trials</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r h="384048">
                <a:tc>
                  <a:txBody>
                    <a:bodyPr/>
                    <a:lstStyle/>
                    <a:p>
                      <a:pPr indent="0" marL="0">
                        <a:buNone/>
                      </a:pPr>
                      <a:r>
                        <a:rPr lang="en-US" sz="1300" b="1" dirty="0">
                          <a:solidFill>
                            <a:schemeClr val="tx1"/>
                          </a:solidFill>
                        </a:rPr>
                        <a:t>POST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/api/trials/analyze</a:t>
                      </a:r>
                      <a:endParaRPr lang="en-US" sz="1300" dirty="0">
                        <a:latin typeface="Courier New" charset="0"/>
                        <a:ea typeface="Courier New" charset="0"/>
                        <a:cs typeface="Courier New"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Groq explains the selected trials</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2"/>
                    </a:solidFill>
                  </a:tcPr>
                </a:tc>
              </a:tr>
              <a:tr h="384048">
                <a:tc>
                  <a:txBody>
                    <a:bodyPr/>
                    <a:lstStyle/>
                    <a:p>
                      <a:pPr indent="0" marL="0">
                        <a:buNone/>
                      </a:pPr>
                      <a:r>
                        <a:rPr lang="en-US" sz="1300" b="1" dirty="0">
                          <a:solidFill>
                            <a:schemeClr val="tx1"/>
                          </a:solidFill>
                        </a:rPr>
                        <a:t>POST</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/api/trials/compare</a:t>
                      </a:r>
                      <a:endParaRPr lang="en-US" sz="1300" dirty="0">
                        <a:latin typeface="Courier New" charset="0"/>
                        <a:ea typeface="Courier New" charset="0"/>
                        <a:cs typeface="Courier New" charset="0"/>
                      </a:endParaRPr>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Builds the comparison table</a:t>
                      </a:r>
                      <a:endParaRPr lang="en-US" sz="1300" dirty="0"/>
                    </a:p>
                  </a:txBody>
                  <a:tcPr marL="91440" marR="91440" marT="0" marB="0" anchor="ctr">
                    <a:lnL w="6350" cap="flat" cmpd="sng" algn="ctr">
                      <a:solidFill>
                        <a:srgbClr val="D5DDE5"/>
                      </a:solidFill>
                      <a:prstDash val="solid"/>
                      <a:round/>
                      <a:headEnd type="none" w="med" len="med"/>
                      <a:tailEnd type="none" w="med" len="med"/>
                    </a:lnL>
                    <a:lnR w="6350" cap="flat" cmpd="sng" algn="ctr">
                      <a:solidFill>
                        <a:srgbClr val="D5DDE5"/>
                      </a:solidFill>
                      <a:prstDash val="solid"/>
                      <a:round/>
                      <a:headEnd type="none" w="med" len="med"/>
                      <a:tailEnd type="none" w="med" len="med"/>
                    </a:lnR>
                    <a:lnT w="6350" cap="flat" cmpd="sng" algn="ctr">
                      <a:solidFill>
                        <a:srgbClr val="D5DDE5"/>
                      </a:solidFill>
                      <a:prstDash val="solid"/>
                      <a:round/>
                      <a:headEnd type="none" w="med" len="med"/>
                      <a:tailEnd type="none" w="med" len="med"/>
                    </a:lnT>
                    <a:lnB w="6350" cap="flat" cmpd="sng" algn="ctr">
                      <a:solidFill>
                        <a:srgbClr val="D5DDE5"/>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457200" y="4389120"/>
            <a:ext cx="7863840" cy="320040"/>
          </a:xfrm>
          <a:prstGeom prst="rect">
            <a:avLst/>
          </a:prstGeom>
          <a:noFill/>
          <a:ln/>
        </p:spPr>
        <p:txBody>
          <a:bodyPr wrap="square" lIns="0" tIns="0" rIns="0" bIns="0" rtlCol="0" anchor="ctr"/>
          <a:lstStyle/>
          <a:p>
            <a:pPr indent="0" marL="0">
              <a:buNone/>
            </a:pPr>
            <a:r>
              <a:rPr lang="en-US" sz="1300" i="1" dirty="0">
                <a:solidFill>
                  <a:schemeClr val="tx2"/>
                </a:solidFill>
              </a:rPr>
              <a:t>All endpoints return JSON. Errors return a friendly message with the right status code. Try them live at /docs.</a:t>
            </a:r>
            <a:endParaRPr lang="en-US" sz="13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User Interface</a:t>
            </a:r>
            <a:endParaRPr lang="en-US" sz="3200" dirty="0"/>
          </a:p>
        </p:txBody>
      </p:sp>
      <p:pic>
        <p:nvPicPr>
          <p:cNvPr id="4" name="Image 0" descr="Dashboard screenshot">    </p:cNvPr>
          <p:cNvPicPr>
            <a:picLocks noChangeAspect="1"/>
          </p:cNvPicPr>
          <p:nvPr/>
        </p:nvPicPr>
        <p:blipFill>
          <a:blip r:embed="rId1"/>
          <a:srcRect l="0" r="0" t="0" b="45554"/>
          <a:stretch/>
        </p:blipFill>
        <p:spPr>
          <a:xfrm>
            <a:off x="457200" y="1097280"/>
            <a:ext cx="3931920" cy="1371600"/>
          </a:xfrm>
          <a:prstGeom prst="rect">
            <a:avLst/>
          </a:prstGeom>
        </p:spPr>
      </p:pic>
      <p:sp>
        <p:nvSpPr>
          <p:cNvPr id="5" name="Text 1"/>
          <p:cNvSpPr txBox="1"/>
          <p:nvPr/>
        </p:nvSpPr>
        <p:spPr>
          <a:xfrm>
            <a:off x="457200" y="2514600"/>
            <a:ext cx="3931920" cy="274320"/>
          </a:xfrm>
          <a:prstGeom prst="rect">
            <a:avLst/>
          </a:prstGeom>
          <a:noFill/>
          <a:ln/>
        </p:spPr>
        <p:txBody>
          <a:bodyPr wrap="square" lIns="0" tIns="0" rIns="0" bIns="0" rtlCol="0" anchor="ctr"/>
          <a:lstStyle/>
          <a:p>
            <a:pPr indent="0" marL="0">
              <a:buNone/>
            </a:pPr>
            <a:r>
              <a:rPr lang="en-US" sz="1200" b="1" dirty="0">
                <a:solidFill>
                  <a:schemeClr val="tx2"/>
                </a:solidFill>
              </a:rPr>
              <a:t>Dashboard - </a:t>
            </a:r>
            <a:pPr indent="0" marL="0">
              <a:buNone/>
            </a:pPr>
            <a:r>
              <a:rPr lang="en-US" sz="1200" dirty="0">
                <a:solidFill>
                  <a:schemeClr val="tx1"/>
                </a:solidFill>
              </a:rPr>
              <a:t>Counts and shortcuts to each module</a:t>
            </a:r>
            <a:endParaRPr lang="en-US" sz="1200" dirty="0"/>
          </a:p>
        </p:txBody>
      </p:sp>
      <p:pic>
        <p:nvPicPr>
          <p:cNvPr id="6" name="Image 1" descr="NCT change log screenshot">    </p:cNvPr>
          <p:cNvPicPr>
            <a:picLocks noChangeAspect="1"/>
          </p:cNvPicPr>
          <p:nvPr/>
        </p:nvPicPr>
        <p:blipFill>
          <a:blip r:embed="rId2"/>
          <a:srcRect l="0" r="0" t="0" b="45554"/>
          <a:stretch/>
        </p:blipFill>
        <p:spPr>
          <a:xfrm>
            <a:off x="4663440" y="1097280"/>
            <a:ext cx="3931920" cy="1371600"/>
          </a:xfrm>
          <a:prstGeom prst="rect">
            <a:avLst/>
          </a:prstGeom>
        </p:spPr>
      </p:pic>
      <p:sp>
        <p:nvSpPr>
          <p:cNvPr id="7" name="Text 2"/>
          <p:cNvSpPr txBox="1"/>
          <p:nvPr/>
        </p:nvSpPr>
        <p:spPr>
          <a:xfrm>
            <a:off x="4663440" y="2514600"/>
            <a:ext cx="3931920" cy="274320"/>
          </a:xfrm>
          <a:prstGeom prst="rect">
            <a:avLst/>
          </a:prstGeom>
          <a:noFill/>
          <a:ln/>
        </p:spPr>
        <p:txBody>
          <a:bodyPr wrap="square" lIns="0" tIns="0" rIns="0" bIns="0" rtlCol="0" anchor="ctr"/>
          <a:lstStyle/>
          <a:p>
            <a:pPr indent="0" marL="0">
              <a:buNone/>
            </a:pPr>
            <a:r>
              <a:rPr lang="en-US" sz="1200" b="1" dirty="0">
                <a:solidFill>
                  <a:schemeClr val="tx2"/>
                </a:solidFill>
              </a:rPr>
              <a:t>NCT change log - </a:t>
            </a:r>
            <a:pPr indent="0" marL="0">
              <a:buNone/>
            </a:pPr>
            <a:r>
              <a:rPr lang="en-US" sz="1200" dirty="0">
                <a:solidFill>
                  <a:schemeClr val="tx1"/>
                </a:solidFill>
              </a:rPr>
              <a:t>Old vs new value, change type, version</a:t>
            </a:r>
            <a:endParaRPr lang="en-US" sz="1200" dirty="0"/>
          </a:p>
        </p:txBody>
      </p:sp>
      <p:pic>
        <p:nvPicPr>
          <p:cNvPr id="8" name="Image 2" descr="PubMed article screenshot">    </p:cNvPr>
          <p:cNvPicPr>
            <a:picLocks noChangeAspect="1"/>
          </p:cNvPicPr>
          <p:nvPr/>
        </p:nvPicPr>
        <p:blipFill>
          <a:blip r:embed="rId3"/>
          <a:srcRect l="0" r="0" t="0" b="45554"/>
          <a:stretch/>
        </p:blipFill>
        <p:spPr>
          <a:xfrm>
            <a:off x="457200" y="2971800"/>
            <a:ext cx="3931920" cy="1371600"/>
          </a:xfrm>
          <a:prstGeom prst="rect">
            <a:avLst/>
          </a:prstGeom>
        </p:spPr>
      </p:pic>
      <p:sp>
        <p:nvSpPr>
          <p:cNvPr id="9" name="Text 3"/>
          <p:cNvSpPr txBox="1"/>
          <p:nvPr/>
        </p:nvSpPr>
        <p:spPr>
          <a:xfrm>
            <a:off x="457200" y="4389120"/>
            <a:ext cx="3931920" cy="274320"/>
          </a:xfrm>
          <a:prstGeom prst="rect">
            <a:avLst/>
          </a:prstGeom>
          <a:noFill/>
          <a:ln/>
        </p:spPr>
        <p:txBody>
          <a:bodyPr wrap="square" lIns="0" tIns="0" rIns="0" bIns="0" rtlCol="0" anchor="ctr"/>
          <a:lstStyle/>
          <a:p>
            <a:pPr indent="0" marL="0">
              <a:buNone/>
            </a:pPr>
            <a:r>
              <a:rPr lang="en-US" sz="1200" b="1" dirty="0">
                <a:solidFill>
                  <a:schemeClr val="tx2"/>
                </a:solidFill>
              </a:rPr>
              <a:t>PubMed article - </a:t>
            </a:r>
            <a:pPr indent="0" marL="0">
              <a:buNone/>
            </a:pPr>
            <a:r>
              <a:rPr lang="en-US" sz="1200" dirty="0">
                <a:solidFill>
                  <a:schemeClr val="tx1"/>
                </a:solidFill>
              </a:rPr>
              <a:t>Abstract, AI summary, figures</a:t>
            </a:r>
            <a:endParaRPr lang="en-US" sz="1200" dirty="0"/>
          </a:p>
        </p:txBody>
      </p:sp>
      <p:pic>
        <p:nvPicPr>
          <p:cNvPr id="10" name="Image 3" descr="Trial comparison screenshot">    </p:cNvPr>
          <p:cNvPicPr>
            <a:picLocks noChangeAspect="1"/>
          </p:cNvPicPr>
          <p:nvPr/>
        </p:nvPicPr>
        <p:blipFill>
          <a:blip r:embed="rId4"/>
          <a:srcRect l="0" r="0" t="0" b="45554"/>
          <a:stretch/>
        </p:blipFill>
        <p:spPr>
          <a:xfrm>
            <a:off x="4663440" y="2971800"/>
            <a:ext cx="3931920" cy="1371600"/>
          </a:xfrm>
          <a:prstGeom prst="rect">
            <a:avLst/>
          </a:prstGeom>
        </p:spPr>
      </p:pic>
      <p:sp>
        <p:nvSpPr>
          <p:cNvPr id="11" name="Text 4"/>
          <p:cNvSpPr txBox="1"/>
          <p:nvPr/>
        </p:nvSpPr>
        <p:spPr>
          <a:xfrm>
            <a:off x="4663440" y="4389120"/>
            <a:ext cx="3931920" cy="274320"/>
          </a:xfrm>
          <a:prstGeom prst="rect">
            <a:avLst/>
          </a:prstGeom>
          <a:noFill/>
          <a:ln/>
        </p:spPr>
        <p:txBody>
          <a:bodyPr wrap="square" lIns="0" tIns="0" rIns="0" bIns="0" rtlCol="0" anchor="ctr"/>
          <a:lstStyle/>
          <a:p>
            <a:pPr indent="0" marL="0">
              <a:buNone/>
            </a:pPr>
            <a:r>
              <a:rPr lang="en-US" sz="1200" b="1" dirty="0">
                <a:solidFill>
                  <a:schemeClr val="tx2"/>
                </a:solidFill>
              </a:rPr>
              <a:t>Trial comparison - </a:t>
            </a:r>
            <a:pPr indent="0" marL="0">
              <a:buNone/>
            </a:pPr>
            <a:r>
              <a:rPr lang="en-US" sz="1200" dirty="0">
                <a:solidFill>
                  <a:schemeClr val="tx1"/>
                </a:solidFill>
              </a:rPr>
              <a:t>Differing rows highlighted</a:t>
            </a:r>
            <a:endParaRPr lang="en-US" sz="12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AI Usage</a:t>
            </a:r>
            <a:endParaRPr lang="en-US" sz="3200" dirty="0"/>
          </a:p>
        </p:txBody>
      </p:sp>
      <p:sp>
        <p:nvSpPr>
          <p:cNvPr id="4" name="no-ai card"/>
          <p:cNvSpPr/>
          <p:nvPr/>
        </p:nvSpPr>
        <p:spPr>
          <a:xfrm>
            <a:off x="457200" y="1097280"/>
            <a:ext cx="4023360" cy="3429000"/>
          </a:xfrm>
          <a:prstGeom prst="roundRect">
            <a:avLst>
              <a:gd name="adj" fmla="val 2133"/>
            </a:avLst>
          </a:prstGeom>
          <a:solidFill>
            <a:schemeClr val="bg2"/>
          </a:solidFill>
          <a:ln/>
        </p:spPr>
      </p:sp>
      <p:sp>
        <p:nvSpPr>
          <p:cNvPr id="5" name="Text 2"/>
          <p:cNvSpPr txBox="1"/>
          <p:nvPr/>
        </p:nvSpPr>
        <p:spPr>
          <a:xfrm>
            <a:off x="640080" y="1188720"/>
            <a:ext cx="3657600" cy="324612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Without AI (plain Python)</a:t>
            </a:r>
            <a:endParaRPr lang="en-US" sz="1400" dirty="0"/>
          </a:p>
          <a:p>
            <a:pPr marL="342900" indent="-342900">
              <a:spcAft>
                <a:spcPts val="300"/>
              </a:spcAft>
              <a:buSzPct val="100000"/>
              <a:buChar char="•"/>
            </a:pPr>
            <a:r>
              <a:rPr lang="en-US" sz="1400" dirty="0">
                <a:solidFill>
                  <a:schemeClr val="tx1"/>
                </a:solidFill>
              </a:rPr>
              <a:t>HTML parsing</a:t>
            </a:r>
            <a:endParaRPr lang="en-US" sz="1400" dirty="0"/>
          </a:p>
          <a:p>
            <a:pPr marL="342900" indent="-342900">
              <a:spcAft>
                <a:spcPts val="300"/>
              </a:spcAft>
              <a:buSzPct val="100000"/>
              <a:buChar char="•"/>
            </a:pPr>
            <a:r>
              <a:rPr lang="en-US" sz="1400" dirty="0">
                <a:solidFill>
                  <a:schemeClr val="tx1"/>
                </a:solidFill>
              </a:rPr>
              <a:t>Data extraction</a:t>
            </a:r>
            <a:endParaRPr lang="en-US" sz="1400" dirty="0"/>
          </a:p>
          <a:p>
            <a:pPr marL="342900" indent="-342900">
              <a:spcAft>
                <a:spcPts val="300"/>
              </a:spcAft>
              <a:buSzPct val="100000"/>
              <a:buChar char="•"/>
            </a:pPr>
            <a:r>
              <a:rPr lang="en-US" sz="1400" dirty="0">
                <a:solidFill>
                  <a:schemeClr val="tx1"/>
                </a:solidFill>
              </a:rPr>
              <a:t>Normalization</a:t>
            </a:r>
            <a:endParaRPr lang="en-US" sz="1400" dirty="0"/>
          </a:p>
          <a:p>
            <a:pPr marL="342900" indent="-342900">
              <a:spcAft>
                <a:spcPts val="300"/>
              </a:spcAft>
              <a:buSzPct val="100000"/>
              <a:buChar char="•"/>
            </a:pPr>
            <a:r>
              <a:rPr lang="en-US" sz="1400" dirty="0">
                <a:solidFill>
                  <a:schemeClr val="tx1"/>
                </a:solidFill>
              </a:rPr>
              <a:t>Version comparison</a:t>
            </a:r>
            <a:endParaRPr lang="en-US" sz="1400" dirty="0"/>
          </a:p>
          <a:p>
            <a:pPr marL="342900" indent="-342900">
              <a:spcAft>
                <a:spcPts val="300"/>
              </a:spcAft>
              <a:buSzPct val="100000"/>
              <a:buChar char="•"/>
            </a:pPr>
            <a:r>
              <a:rPr lang="en-US" sz="1400" dirty="0">
                <a:solidFill>
                  <a:schemeClr val="tx1"/>
                </a:solidFill>
              </a:rPr>
              <a:t>API calls</a:t>
            </a:r>
            <a:endParaRPr lang="en-US" sz="1400" dirty="0"/>
          </a:p>
          <a:p>
            <a:pPr marL="342900" indent="-342900">
              <a:spcAft>
                <a:spcPts val="300"/>
              </a:spcAft>
              <a:buSzPct val="100000"/>
              <a:buChar char="•"/>
            </a:pPr>
            <a:r>
              <a:rPr lang="en-US" sz="1400" dirty="0">
                <a:solidFill>
                  <a:schemeClr val="tx1"/>
                </a:solidFill>
              </a:rPr>
              <a:t>Database storage</a:t>
            </a:r>
            <a:endParaRPr lang="en-US" sz="1400" dirty="0"/>
          </a:p>
          <a:p>
            <a:pPr marL="342900" indent="-342900">
              <a:spcAft>
                <a:spcPts val="300"/>
              </a:spcAft>
              <a:buSzPct val="100000"/>
              <a:buChar char="•"/>
            </a:pPr>
            <a:r>
              <a:rPr lang="en-US" sz="1400" dirty="0">
                <a:solidFill>
                  <a:schemeClr val="tx1"/>
                </a:solidFill>
              </a:rPr>
              <a:t>Filtering</a:t>
            </a:r>
            <a:endParaRPr lang="en-US" sz="1400" dirty="0"/>
          </a:p>
          <a:p>
            <a:pPr marL="342900" indent="-342900">
              <a:spcAft>
                <a:spcPts val="300"/>
              </a:spcAft>
              <a:buSzPct val="100000"/>
              <a:buChar char="•"/>
            </a:pPr>
            <a:r>
              <a:rPr lang="en-US" sz="1400" dirty="0">
                <a:solidFill>
                  <a:schemeClr val="tx1"/>
                </a:solidFill>
              </a:rPr>
              <a:t>Comparison table</a:t>
            </a:r>
            <a:endParaRPr lang="en-US" sz="1400" dirty="0"/>
          </a:p>
        </p:txBody>
      </p:sp>
      <p:sp>
        <p:nvSpPr>
          <p:cNvPr id="6" name="ai card"/>
          <p:cNvSpPr/>
          <p:nvPr/>
        </p:nvSpPr>
        <p:spPr>
          <a:xfrm>
            <a:off x="4663440" y="1097280"/>
            <a:ext cx="4023360" cy="3429000"/>
          </a:xfrm>
          <a:prstGeom prst="roundRect">
            <a:avLst>
              <a:gd name="adj" fmla="val 2133"/>
            </a:avLst>
          </a:prstGeom>
          <a:solidFill>
            <a:srgbClr val="EFE9FB"/>
          </a:solidFill>
          <a:ln/>
        </p:spPr>
      </p:sp>
      <p:sp>
        <p:nvSpPr>
          <p:cNvPr id="7" name="Text 4"/>
          <p:cNvSpPr txBox="1"/>
          <p:nvPr/>
        </p:nvSpPr>
        <p:spPr>
          <a:xfrm>
            <a:off x="4846320" y="1188720"/>
            <a:ext cx="3657600" cy="2194560"/>
          </a:xfrm>
          <a:prstGeom prst="rect">
            <a:avLst/>
          </a:prstGeom>
          <a:noFill/>
          <a:ln/>
        </p:spPr>
        <p:txBody>
          <a:bodyPr wrap="square" lIns="0" tIns="0" rIns="0" bIns="0" rtlCol="0" anchor="t"/>
          <a:lstStyle/>
          <a:p>
            <a:pPr indent="0" marL="0">
              <a:spcAft>
                <a:spcPts val="300"/>
              </a:spcAft>
              <a:buNone/>
            </a:pPr>
            <a:r>
              <a:rPr lang="en-US" sz="1700" b="1" dirty="0">
                <a:solidFill>
                  <a:schemeClr val="accent2"/>
                </a:solidFill>
              </a:rPr>
              <a:t>With Groq</a:t>
            </a:r>
            <a:endParaRPr lang="en-US" sz="1400" dirty="0"/>
          </a:p>
          <a:p>
            <a:pPr marL="342900" indent="-342900">
              <a:spcAft>
                <a:spcPts val="300"/>
              </a:spcAft>
              <a:buSzPct val="100000"/>
              <a:buChar char="•"/>
            </a:pPr>
            <a:r>
              <a:rPr lang="en-US" sz="1400" dirty="0">
                <a:solidFill>
                  <a:schemeClr val="tx1"/>
                </a:solidFill>
              </a:rPr>
              <a:t>Article summarization</a:t>
            </a:r>
            <a:endParaRPr lang="en-US" sz="1400" dirty="0"/>
          </a:p>
          <a:p>
            <a:pPr marL="342900" indent="-342900">
              <a:spcAft>
                <a:spcPts val="300"/>
              </a:spcAft>
              <a:buSzPct val="100000"/>
              <a:buChar char="•"/>
            </a:pPr>
            <a:r>
              <a:rPr lang="en-US" sz="1400" dirty="0">
                <a:solidFill>
                  <a:schemeClr val="tx1"/>
                </a:solidFill>
              </a:rPr>
              <a:t>Research interpretation</a:t>
            </a:r>
            <a:endParaRPr lang="en-US" sz="1400" dirty="0"/>
          </a:p>
          <a:p>
            <a:pPr marL="342900" indent="-342900">
              <a:spcAft>
                <a:spcPts val="300"/>
              </a:spcAft>
              <a:buSzPct val="100000"/>
              <a:buChar char="•"/>
            </a:pPr>
            <a:r>
              <a:rPr lang="en-US" sz="1400" dirty="0">
                <a:solidFill>
                  <a:schemeClr val="tx1"/>
                </a:solidFill>
              </a:rPr>
              <a:t>Trial understanding</a:t>
            </a:r>
            <a:endParaRPr lang="en-US" sz="1400" dirty="0"/>
          </a:p>
          <a:p>
            <a:pPr marL="342900" indent="-342900">
              <a:spcAft>
                <a:spcPts val="300"/>
              </a:spcAft>
              <a:buSzPct val="100000"/>
              <a:buChar char="•"/>
            </a:pPr>
            <a:r>
              <a:rPr lang="en-US" sz="1400" dirty="0">
                <a:solidFill>
                  <a:schemeClr val="tx1"/>
                </a:solidFill>
              </a:rPr>
              <a:t>Key findings generation</a:t>
            </a:r>
            <a:endParaRPr lang="en-US" sz="1400" dirty="0"/>
          </a:p>
          <a:p>
            <a:pPr marL="342900" indent="-342900">
              <a:spcAft>
                <a:spcPts val="300"/>
              </a:spcAft>
              <a:buSzPct val="100000"/>
              <a:buChar char="•"/>
            </a:pPr>
            <a:r>
              <a:rPr lang="en-US" sz="1400" dirty="0">
                <a:solidFill>
                  <a:schemeClr val="tx1"/>
                </a:solidFill>
              </a:rPr>
              <a:t>Figure / caption interpretation</a:t>
            </a:r>
            <a:endParaRPr lang="en-US" sz="1400" dirty="0"/>
          </a:p>
        </p:txBody>
      </p:sp>
      <p:sp>
        <p:nvSpPr>
          <p:cNvPr id="8" name="Text 5"/>
          <p:cNvSpPr txBox="1"/>
          <p:nvPr/>
        </p:nvSpPr>
        <p:spPr>
          <a:xfrm>
            <a:off x="4846320" y="3429000"/>
            <a:ext cx="3657600" cy="914400"/>
          </a:xfrm>
          <a:prstGeom prst="rect">
            <a:avLst/>
          </a:prstGeom>
          <a:noFill/>
          <a:ln/>
        </p:spPr>
        <p:txBody>
          <a:bodyPr wrap="square" lIns="0" tIns="0" rIns="0" bIns="0" rtlCol="0" anchor="ctr"/>
          <a:lstStyle/>
          <a:p>
            <a:pPr indent="0" marL="0">
              <a:buNone/>
            </a:pPr>
            <a:r>
              <a:rPr lang="en-US" sz="1500" b="1" i="1" dirty="0">
                <a:solidFill>
                  <a:schemeClr val="accent2"/>
                </a:solidFill>
              </a:rPr>
              <a:t>The core logic is deterministic Python. The LLM is an extra layer.</a:t>
            </a:r>
            <a:endParaRPr lang="en-US" sz="15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Demo Flow</a:t>
            </a:r>
            <a:endParaRPr lang="en-US" sz="3200" dirty="0"/>
          </a:p>
        </p:txBody>
      </p:sp>
      <p:sp>
        <p:nvSpPr>
          <p:cNvPr id="4" name="demo card Demo 1"/>
          <p:cNvSpPr/>
          <p:nvPr/>
        </p:nvSpPr>
        <p:spPr>
          <a:xfrm>
            <a:off x="457200" y="1280160"/>
            <a:ext cx="2606040" cy="2926080"/>
          </a:xfrm>
          <a:prstGeom prst="roundRect">
            <a:avLst>
              <a:gd name="adj" fmla="val 3509"/>
            </a:avLst>
          </a:prstGeom>
          <a:solidFill>
            <a:schemeClr val="bg2"/>
          </a:solidFill>
          <a:ln/>
        </p:spPr>
      </p:sp>
      <p:sp>
        <p:nvSpPr>
          <p:cNvPr id="5" name="box Demo 1"/>
          <p:cNvSpPr/>
          <p:nvPr/>
        </p:nvSpPr>
        <p:spPr>
          <a:xfrm>
            <a:off x="685800" y="1508760"/>
            <a:ext cx="1097280" cy="411480"/>
          </a:xfrm>
          <a:prstGeom prst="roundRect">
            <a:avLst>
              <a:gd name="adj" fmla="val 17778"/>
            </a:avLst>
          </a:prstGeom>
          <a:solidFill>
            <a:schemeClr val="accent1"/>
          </a:solidFill>
          <a:ln/>
        </p:spPr>
        <p:txBody>
          <a:bodyPr wrap="square" lIns="50800" tIns="50800" rIns="50800" bIns="50800" rtlCol="0" anchor="ctr"/>
          <a:lstStyle/>
          <a:p>
            <a:pPr algn="ctr" indent="0" marL="0">
              <a:buNone/>
            </a:pPr>
            <a:r>
              <a:rPr lang="en-US" sz="1400" dirty="0">
                <a:solidFill>
                  <a:schemeClr val="bg1"/>
                </a:solidFill>
              </a:rPr>
              <a:t>Demo 1</a:t>
            </a:r>
            <a:endParaRPr lang="en-US" sz="1400" dirty="0"/>
          </a:p>
        </p:txBody>
      </p:sp>
      <p:sp>
        <p:nvSpPr>
          <p:cNvPr id="6" name="Text 3"/>
          <p:cNvSpPr txBox="1"/>
          <p:nvPr/>
        </p:nvSpPr>
        <p:spPr>
          <a:xfrm>
            <a:off x="685800" y="2103120"/>
            <a:ext cx="2194560" cy="731520"/>
          </a:xfrm>
          <a:prstGeom prst="rect">
            <a:avLst/>
          </a:prstGeom>
          <a:noFill/>
          <a:ln/>
        </p:spPr>
        <p:txBody>
          <a:bodyPr wrap="square" lIns="0" tIns="0" rIns="0" bIns="0" rtlCol="0" anchor="t"/>
          <a:lstStyle/>
          <a:p>
            <a:pPr indent="0" marL="0">
              <a:buNone/>
            </a:pPr>
            <a:r>
              <a:rPr lang="en-US" sz="1800" b="1" dirty="0">
                <a:solidFill>
                  <a:schemeClr val="tx2"/>
                </a:solidFill>
              </a:rPr>
              <a:t>Upload two NCT HTML files</a:t>
            </a:r>
            <a:endParaRPr lang="en-US" sz="1800" dirty="0"/>
          </a:p>
        </p:txBody>
      </p:sp>
      <p:sp>
        <p:nvSpPr>
          <p:cNvPr id="7" name="Text 4"/>
          <p:cNvSpPr txBox="1"/>
          <p:nvPr/>
        </p:nvSpPr>
        <p:spPr>
          <a:xfrm>
            <a:off x="685800" y="3017520"/>
            <a:ext cx="2194560" cy="914400"/>
          </a:xfrm>
          <a:prstGeom prst="rect">
            <a:avLst/>
          </a:prstGeom>
          <a:noFill/>
          <a:ln/>
        </p:spPr>
        <p:txBody>
          <a:bodyPr wrap="square" lIns="0" tIns="0" rIns="0" bIns="0" rtlCol="0" anchor="t"/>
          <a:lstStyle/>
          <a:p>
            <a:pPr indent="0" marL="0">
              <a:buNone/>
            </a:pPr>
            <a:r>
              <a:rPr lang="en-US" sz="1400" dirty="0">
                <a:solidFill>
                  <a:schemeClr val="tx1"/>
                </a:solidFill>
              </a:rPr>
              <a:t>Previous → Current → Detected changes</a:t>
            </a:r>
            <a:endParaRPr lang="en-US" sz="1400" dirty="0"/>
          </a:p>
        </p:txBody>
      </p:sp>
      <p:sp>
        <p:nvSpPr>
          <p:cNvPr id="8" name="Shape 5"/>
          <p:cNvSpPr/>
          <p:nvPr/>
        </p:nvSpPr>
        <p:spPr>
          <a:xfrm>
            <a:off x="3081528" y="2743200"/>
            <a:ext cx="146304" cy="0"/>
          </a:xfrm>
          <a:prstGeom prst="line">
            <a:avLst/>
          </a:prstGeom>
          <a:noFill/>
          <a:ln w="22225">
            <a:solidFill>
              <a:schemeClr val="accent6"/>
            </a:solidFill>
            <a:prstDash val="solid"/>
            <a:tailEnd type="triangle"/>
          </a:ln>
        </p:spPr>
      </p:sp>
      <p:sp>
        <p:nvSpPr>
          <p:cNvPr id="9" name="demo card Demo 2"/>
          <p:cNvSpPr/>
          <p:nvPr/>
        </p:nvSpPr>
        <p:spPr>
          <a:xfrm>
            <a:off x="3246120" y="1280160"/>
            <a:ext cx="2606040" cy="2926080"/>
          </a:xfrm>
          <a:prstGeom prst="roundRect">
            <a:avLst>
              <a:gd name="adj" fmla="val 3509"/>
            </a:avLst>
          </a:prstGeom>
          <a:solidFill>
            <a:schemeClr val="bg2"/>
          </a:solidFill>
          <a:ln/>
        </p:spPr>
      </p:sp>
      <p:sp>
        <p:nvSpPr>
          <p:cNvPr id="10" name="box Demo 2"/>
          <p:cNvSpPr/>
          <p:nvPr/>
        </p:nvSpPr>
        <p:spPr>
          <a:xfrm>
            <a:off x="3474720" y="1508760"/>
            <a:ext cx="1097280" cy="411480"/>
          </a:xfrm>
          <a:prstGeom prst="roundRect">
            <a:avLst>
              <a:gd name="adj" fmla="val 17778"/>
            </a:avLst>
          </a:prstGeom>
          <a:solidFill>
            <a:schemeClr val="accent2"/>
          </a:solidFill>
          <a:ln/>
        </p:spPr>
        <p:txBody>
          <a:bodyPr wrap="square" lIns="50800" tIns="50800" rIns="50800" bIns="50800" rtlCol="0" anchor="ctr"/>
          <a:lstStyle/>
          <a:p>
            <a:pPr algn="ctr" indent="0" marL="0">
              <a:buNone/>
            </a:pPr>
            <a:r>
              <a:rPr lang="en-US" sz="1400" dirty="0">
                <a:solidFill>
                  <a:schemeClr val="bg1"/>
                </a:solidFill>
              </a:rPr>
              <a:t>Demo 2</a:t>
            </a:r>
            <a:endParaRPr lang="en-US" sz="1400" dirty="0"/>
          </a:p>
        </p:txBody>
      </p:sp>
      <p:sp>
        <p:nvSpPr>
          <p:cNvPr id="11" name="Text 8"/>
          <p:cNvSpPr txBox="1"/>
          <p:nvPr/>
        </p:nvSpPr>
        <p:spPr>
          <a:xfrm>
            <a:off x="3474720" y="2103120"/>
            <a:ext cx="2194560" cy="731520"/>
          </a:xfrm>
          <a:prstGeom prst="rect">
            <a:avLst/>
          </a:prstGeom>
          <a:noFill/>
          <a:ln/>
        </p:spPr>
        <p:txBody>
          <a:bodyPr wrap="square" lIns="0" tIns="0" rIns="0" bIns="0" rtlCol="0" anchor="t"/>
          <a:lstStyle/>
          <a:p>
            <a:pPr indent="0" marL="0">
              <a:buNone/>
            </a:pPr>
            <a:r>
              <a:rPr lang="en-US" sz="1800" b="1" dirty="0">
                <a:solidFill>
                  <a:schemeClr val="tx2"/>
                </a:solidFill>
              </a:rPr>
              <a:t>Search PubMed</a:t>
            </a:r>
            <a:endParaRPr lang="en-US" sz="1800" dirty="0"/>
          </a:p>
        </p:txBody>
      </p:sp>
      <p:sp>
        <p:nvSpPr>
          <p:cNvPr id="12" name="Text 9"/>
          <p:cNvSpPr txBox="1"/>
          <p:nvPr/>
        </p:nvSpPr>
        <p:spPr>
          <a:xfrm>
            <a:off x="3474720" y="3017520"/>
            <a:ext cx="2194560" cy="914400"/>
          </a:xfrm>
          <a:prstGeom prst="rect">
            <a:avLst/>
          </a:prstGeom>
          <a:noFill/>
          <a:ln/>
        </p:spPr>
        <p:txBody>
          <a:bodyPr wrap="square" lIns="0" tIns="0" rIns="0" bIns="0" rtlCol="0" anchor="t"/>
          <a:lstStyle/>
          <a:p>
            <a:pPr indent="0" marL="0">
              <a:buNone/>
            </a:pPr>
            <a:r>
              <a:rPr lang="en-US" sz="1400" dirty="0">
                <a:solidFill>
                  <a:schemeClr val="tx1"/>
                </a:solidFill>
              </a:rPr>
              <a:t>Article → Abstract → Groq summary</a:t>
            </a:r>
            <a:endParaRPr lang="en-US" sz="1400" dirty="0"/>
          </a:p>
        </p:txBody>
      </p:sp>
      <p:sp>
        <p:nvSpPr>
          <p:cNvPr id="13" name="Shape 10"/>
          <p:cNvSpPr/>
          <p:nvPr/>
        </p:nvSpPr>
        <p:spPr>
          <a:xfrm>
            <a:off x="5870448" y="2743200"/>
            <a:ext cx="146304" cy="0"/>
          </a:xfrm>
          <a:prstGeom prst="line">
            <a:avLst/>
          </a:prstGeom>
          <a:noFill/>
          <a:ln w="22225">
            <a:solidFill>
              <a:schemeClr val="accent6"/>
            </a:solidFill>
            <a:prstDash val="solid"/>
            <a:tailEnd type="triangle"/>
          </a:ln>
        </p:spPr>
      </p:sp>
      <p:sp>
        <p:nvSpPr>
          <p:cNvPr id="14" name="demo card Demo 3"/>
          <p:cNvSpPr/>
          <p:nvPr/>
        </p:nvSpPr>
        <p:spPr>
          <a:xfrm>
            <a:off x="6035040" y="1280160"/>
            <a:ext cx="2606040" cy="2926080"/>
          </a:xfrm>
          <a:prstGeom prst="roundRect">
            <a:avLst>
              <a:gd name="adj" fmla="val 3509"/>
            </a:avLst>
          </a:prstGeom>
          <a:solidFill>
            <a:schemeClr val="bg2"/>
          </a:solidFill>
          <a:ln/>
        </p:spPr>
      </p:sp>
      <p:sp>
        <p:nvSpPr>
          <p:cNvPr id="15" name="box Demo 3"/>
          <p:cNvSpPr/>
          <p:nvPr/>
        </p:nvSpPr>
        <p:spPr>
          <a:xfrm>
            <a:off x="6263640" y="1508760"/>
            <a:ext cx="1097280" cy="411480"/>
          </a:xfrm>
          <a:prstGeom prst="roundRect">
            <a:avLst>
              <a:gd name="adj" fmla="val 17778"/>
            </a:avLst>
          </a:prstGeom>
          <a:solidFill>
            <a:schemeClr val="accent1"/>
          </a:solidFill>
          <a:ln/>
        </p:spPr>
        <p:txBody>
          <a:bodyPr wrap="square" lIns="50800" tIns="50800" rIns="50800" bIns="50800" rtlCol="0" anchor="ctr"/>
          <a:lstStyle/>
          <a:p>
            <a:pPr algn="ctr" indent="0" marL="0">
              <a:buNone/>
            </a:pPr>
            <a:r>
              <a:rPr lang="en-US" sz="1400" dirty="0">
                <a:solidFill>
                  <a:schemeClr val="bg1"/>
                </a:solidFill>
              </a:rPr>
              <a:t>Demo 3</a:t>
            </a:r>
            <a:endParaRPr lang="en-US" sz="1400" dirty="0"/>
          </a:p>
        </p:txBody>
      </p:sp>
      <p:sp>
        <p:nvSpPr>
          <p:cNvPr id="16" name="Text 13"/>
          <p:cNvSpPr txBox="1"/>
          <p:nvPr/>
        </p:nvSpPr>
        <p:spPr>
          <a:xfrm>
            <a:off x="6263640" y="2103120"/>
            <a:ext cx="2194560" cy="731520"/>
          </a:xfrm>
          <a:prstGeom prst="rect">
            <a:avLst/>
          </a:prstGeom>
          <a:noFill/>
          <a:ln/>
        </p:spPr>
        <p:txBody>
          <a:bodyPr wrap="square" lIns="0" tIns="0" rIns="0" bIns="0" rtlCol="0" anchor="t"/>
          <a:lstStyle/>
          <a:p>
            <a:pPr indent="0" marL="0">
              <a:buNone/>
            </a:pPr>
            <a:r>
              <a:rPr lang="en-US" sz="1800" b="1" dirty="0">
                <a:solidFill>
                  <a:schemeClr val="tx2"/>
                </a:solidFill>
              </a:rPr>
              <a:t>Drug + Disease</a:t>
            </a:r>
            <a:endParaRPr lang="en-US" sz="1800" dirty="0"/>
          </a:p>
        </p:txBody>
      </p:sp>
      <p:sp>
        <p:nvSpPr>
          <p:cNvPr id="17" name="Text 14"/>
          <p:cNvSpPr txBox="1"/>
          <p:nvPr/>
        </p:nvSpPr>
        <p:spPr>
          <a:xfrm>
            <a:off x="6263640" y="3017520"/>
            <a:ext cx="2194560" cy="914400"/>
          </a:xfrm>
          <a:prstGeom prst="rect">
            <a:avLst/>
          </a:prstGeom>
          <a:noFill/>
          <a:ln/>
        </p:spPr>
        <p:txBody>
          <a:bodyPr wrap="square" lIns="0" tIns="0" rIns="0" bIns="0" rtlCol="0" anchor="t"/>
          <a:lstStyle/>
          <a:p>
            <a:pPr indent="0" marL="0">
              <a:buNone/>
            </a:pPr>
            <a:r>
              <a:rPr lang="en-US" sz="1400" dirty="0">
                <a:solidFill>
                  <a:schemeClr val="tx1"/>
                </a:solidFill>
              </a:rPr>
              <a:t>Trial A vs Trial B vs Trial C</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2"/>
                </a:solidFill>
              </a:rPr>
              <a:t>Future Enhancements</a:t>
            </a:r>
            <a:endParaRPr lang="en-US" sz="3200" dirty="0"/>
          </a:p>
        </p:txBody>
      </p:sp>
      <p:sp>
        <p:nvSpPr>
          <p:cNvPr id="4" name="future S3 / R2 file storage"/>
          <p:cNvSpPr/>
          <p:nvPr/>
        </p:nvSpPr>
        <p:spPr>
          <a:xfrm>
            <a:off x="457200" y="1371600"/>
            <a:ext cx="1508760" cy="1280160"/>
          </a:xfrm>
          <a:prstGeom prst="roundRect">
            <a:avLst>
              <a:gd name="adj" fmla="val 5714"/>
            </a:avLst>
          </a:prstGeom>
          <a:solidFill>
            <a:srgbClr val="EFE9FB"/>
          </a:solidFill>
          <a:ln/>
        </p:spPr>
        <p:txBody>
          <a:bodyPr wrap="square" lIns="76200" tIns="76200" rIns="76200" bIns="76200" rtlCol="0" anchor="ctr"/>
          <a:lstStyle/>
          <a:p>
            <a:pPr algn="ctr" indent="0" marL="0">
              <a:buNone/>
            </a:pPr>
            <a:r>
              <a:rPr lang="en-US" sz="1400" b="1" dirty="0">
                <a:solidFill>
                  <a:schemeClr val="tx2"/>
                </a:solidFill>
              </a:rPr>
              <a:t>S3 / R2 file storage</a:t>
            </a:r>
            <a:endParaRPr lang="en-US" sz="1400" dirty="0"/>
          </a:p>
        </p:txBody>
      </p:sp>
      <p:sp>
        <p:nvSpPr>
          <p:cNvPr id="5" name="future Supabase Storage"/>
          <p:cNvSpPr/>
          <p:nvPr/>
        </p:nvSpPr>
        <p:spPr>
          <a:xfrm>
            <a:off x="2121408" y="1371600"/>
            <a:ext cx="1508760" cy="1280160"/>
          </a:xfrm>
          <a:prstGeom prst="roundRect">
            <a:avLst>
              <a:gd name="adj" fmla="val 5714"/>
            </a:avLst>
          </a:prstGeom>
          <a:solidFill>
            <a:schemeClr val="bg2"/>
          </a:solidFill>
          <a:ln/>
        </p:spPr>
        <p:txBody>
          <a:bodyPr wrap="square" lIns="76200" tIns="76200" rIns="76200" bIns="76200" rtlCol="0" anchor="ctr"/>
          <a:lstStyle/>
          <a:p>
            <a:pPr algn="ctr" indent="0" marL="0">
              <a:buNone/>
            </a:pPr>
            <a:r>
              <a:rPr lang="en-US" sz="1400" b="1" dirty="0">
                <a:solidFill>
                  <a:schemeClr val="tx2"/>
                </a:solidFill>
              </a:rPr>
              <a:t>Supabase Storage</a:t>
            </a:r>
            <a:endParaRPr lang="en-US" sz="1400" dirty="0"/>
          </a:p>
        </p:txBody>
      </p:sp>
      <p:sp>
        <p:nvSpPr>
          <p:cNvPr id="6" name="future Scheduled NCT monitoring"/>
          <p:cNvSpPr/>
          <p:nvPr/>
        </p:nvSpPr>
        <p:spPr>
          <a:xfrm>
            <a:off x="3785616" y="1371600"/>
            <a:ext cx="1508760" cy="1280160"/>
          </a:xfrm>
          <a:prstGeom prst="roundRect">
            <a:avLst>
              <a:gd name="adj" fmla="val 5714"/>
            </a:avLst>
          </a:prstGeom>
          <a:solidFill>
            <a:srgbClr val="EFE9FB"/>
          </a:solidFill>
          <a:ln/>
        </p:spPr>
        <p:txBody>
          <a:bodyPr wrap="square" lIns="76200" tIns="76200" rIns="76200" bIns="76200" rtlCol="0" anchor="ctr"/>
          <a:lstStyle/>
          <a:p>
            <a:pPr algn="ctr" indent="0" marL="0">
              <a:buNone/>
            </a:pPr>
            <a:r>
              <a:rPr lang="en-US" sz="1400" b="1" dirty="0">
                <a:solidFill>
                  <a:schemeClr val="tx2"/>
                </a:solidFill>
              </a:rPr>
              <a:t>Scheduled NCT monitoring</a:t>
            </a:r>
            <a:endParaRPr lang="en-US" sz="1400" dirty="0"/>
          </a:p>
        </p:txBody>
      </p:sp>
      <p:sp>
        <p:nvSpPr>
          <p:cNvPr id="7" name="future Email alerts"/>
          <p:cNvSpPr/>
          <p:nvPr/>
        </p:nvSpPr>
        <p:spPr>
          <a:xfrm>
            <a:off x="5449824" y="1371600"/>
            <a:ext cx="1508760" cy="1280160"/>
          </a:xfrm>
          <a:prstGeom prst="roundRect">
            <a:avLst>
              <a:gd name="adj" fmla="val 5714"/>
            </a:avLst>
          </a:prstGeom>
          <a:solidFill>
            <a:schemeClr val="bg2"/>
          </a:solidFill>
          <a:ln/>
        </p:spPr>
        <p:txBody>
          <a:bodyPr wrap="square" lIns="76200" tIns="76200" rIns="76200" bIns="76200" rtlCol="0" anchor="ctr"/>
          <a:lstStyle/>
          <a:p>
            <a:pPr algn="ctr" indent="0" marL="0">
              <a:buNone/>
            </a:pPr>
            <a:r>
              <a:rPr lang="en-US" sz="1400" b="1" dirty="0">
                <a:solidFill>
                  <a:schemeClr val="tx2"/>
                </a:solidFill>
              </a:rPr>
              <a:t>Email alerts</a:t>
            </a:r>
            <a:endParaRPr lang="en-US" sz="1400" dirty="0"/>
          </a:p>
        </p:txBody>
      </p:sp>
      <p:sp>
        <p:nvSpPr>
          <p:cNvPr id="8" name="future Better image analysis"/>
          <p:cNvSpPr/>
          <p:nvPr/>
        </p:nvSpPr>
        <p:spPr>
          <a:xfrm>
            <a:off x="7114032" y="1371600"/>
            <a:ext cx="1508760" cy="1280160"/>
          </a:xfrm>
          <a:prstGeom prst="roundRect">
            <a:avLst>
              <a:gd name="adj" fmla="val 5714"/>
            </a:avLst>
          </a:prstGeom>
          <a:solidFill>
            <a:srgbClr val="EFE9FB"/>
          </a:solidFill>
          <a:ln/>
        </p:spPr>
        <p:txBody>
          <a:bodyPr wrap="square" lIns="76200" tIns="76200" rIns="76200" bIns="76200" rtlCol="0" anchor="ctr"/>
          <a:lstStyle/>
          <a:p>
            <a:pPr algn="ctr" indent="0" marL="0">
              <a:buNone/>
            </a:pPr>
            <a:r>
              <a:rPr lang="en-US" sz="1400" b="1" dirty="0">
                <a:solidFill>
                  <a:schemeClr val="tx2"/>
                </a:solidFill>
              </a:rPr>
              <a:t>Better image analysis</a:t>
            </a:r>
            <a:endParaRPr lang="en-US" sz="1400" dirty="0"/>
          </a:p>
        </p:txBody>
      </p:sp>
      <p:sp>
        <p:nvSpPr>
          <p:cNvPr id="9" name="future Authentication"/>
          <p:cNvSpPr/>
          <p:nvPr/>
        </p:nvSpPr>
        <p:spPr>
          <a:xfrm>
            <a:off x="457200" y="2926080"/>
            <a:ext cx="1508760" cy="1280160"/>
          </a:xfrm>
          <a:prstGeom prst="roundRect">
            <a:avLst>
              <a:gd name="adj" fmla="val 5714"/>
            </a:avLst>
          </a:prstGeom>
          <a:solidFill>
            <a:schemeClr val="bg2"/>
          </a:solidFill>
          <a:ln/>
        </p:spPr>
        <p:txBody>
          <a:bodyPr wrap="square" lIns="76200" tIns="76200" rIns="76200" bIns="76200" rtlCol="0" anchor="ctr"/>
          <a:lstStyle/>
          <a:p>
            <a:pPr algn="ctr" indent="0" marL="0">
              <a:buNone/>
            </a:pPr>
            <a:r>
              <a:rPr lang="en-US" sz="1400" b="1" dirty="0">
                <a:solidFill>
                  <a:schemeClr val="tx2"/>
                </a:solidFill>
              </a:rPr>
              <a:t>Authentication</a:t>
            </a:r>
            <a:endParaRPr lang="en-US" sz="1400" dirty="0"/>
          </a:p>
        </p:txBody>
      </p:sp>
      <p:sp>
        <p:nvSpPr>
          <p:cNvPr id="10" name="future Advanced search"/>
          <p:cNvSpPr/>
          <p:nvPr/>
        </p:nvSpPr>
        <p:spPr>
          <a:xfrm>
            <a:off x="2121408" y="2926080"/>
            <a:ext cx="1508760" cy="1280160"/>
          </a:xfrm>
          <a:prstGeom prst="roundRect">
            <a:avLst>
              <a:gd name="adj" fmla="val 5714"/>
            </a:avLst>
          </a:prstGeom>
          <a:solidFill>
            <a:srgbClr val="EFE9FB"/>
          </a:solidFill>
          <a:ln/>
        </p:spPr>
        <p:txBody>
          <a:bodyPr wrap="square" lIns="76200" tIns="76200" rIns="76200" bIns="76200" rtlCol="0" anchor="ctr"/>
          <a:lstStyle/>
          <a:p>
            <a:pPr algn="ctr" indent="0" marL="0">
              <a:buNone/>
            </a:pPr>
            <a:r>
              <a:rPr lang="en-US" sz="1400" b="1" dirty="0">
                <a:solidFill>
                  <a:schemeClr val="tx2"/>
                </a:solidFill>
              </a:rPr>
              <a:t>Advanced search</a:t>
            </a:r>
            <a:endParaRPr lang="en-US" sz="1400" dirty="0"/>
          </a:p>
        </p:txBody>
      </p:sp>
      <p:sp>
        <p:nvSpPr>
          <p:cNvPr id="11" name="future Trial similarity discovery"/>
          <p:cNvSpPr/>
          <p:nvPr/>
        </p:nvSpPr>
        <p:spPr>
          <a:xfrm>
            <a:off x="3785616" y="2926080"/>
            <a:ext cx="1508760" cy="1280160"/>
          </a:xfrm>
          <a:prstGeom prst="roundRect">
            <a:avLst>
              <a:gd name="adj" fmla="val 5714"/>
            </a:avLst>
          </a:prstGeom>
          <a:solidFill>
            <a:schemeClr val="bg2"/>
          </a:solidFill>
          <a:ln/>
        </p:spPr>
        <p:txBody>
          <a:bodyPr wrap="square" lIns="76200" tIns="76200" rIns="76200" bIns="76200" rtlCol="0" anchor="ctr"/>
          <a:lstStyle/>
          <a:p>
            <a:pPr algn="ctr" indent="0" marL="0">
              <a:buNone/>
            </a:pPr>
            <a:r>
              <a:rPr lang="en-US" sz="1400" b="1" dirty="0">
                <a:solidFill>
                  <a:schemeClr val="tx2"/>
                </a:solidFill>
              </a:rPr>
              <a:t>Trial similarity discovery</a:t>
            </a:r>
            <a:endParaRPr lang="en-US" sz="1400" dirty="0"/>
          </a:p>
        </p:txBody>
      </p:sp>
      <p:sp>
        <p:nvSpPr>
          <p:cNvPr id="12" name="future Cloud deployment"/>
          <p:cNvSpPr/>
          <p:nvPr/>
        </p:nvSpPr>
        <p:spPr>
          <a:xfrm>
            <a:off x="5449824" y="2926080"/>
            <a:ext cx="1508760" cy="1280160"/>
          </a:xfrm>
          <a:prstGeom prst="roundRect">
            <a:avLst>
              <a:gd name="adj" fmla="val 5714"/>
            </a:avLst>
          </a:prstGeom>
          <a:solidFill>
            <a:srgbClr val="EFE9FB"/>
          </a:solidFill>
          <a:ln/>
        </p:spPr>
        <p:txBody>
          <a:bodyPr wrap="square" lIns="76200" tIns="76200" rIns="76200" bIns="76200" rtlCol="0" anchor="ctr"/>
          <a:lstStyle/>
          <a:p>
            <a:pPr algn="ctr" indent="0" marL="0">
              <a:buNone/>
            </a:pPr>
            <a:r>
              <a:rPr lang="en-US" sz="1400" b="1" dirty="0">
                <a:solidFill>
                  <a:schemeClr val="tx2"/>
                </a:solidFill>
              </a:rPr>
              <a:t>Cloud deployment</a:t>
            </a:r>
            <a:endParaRPr lang="en-US" sz="1400" dirty="0"/>
          </a:p>
        </p:txBody>
      </p:sp>
      <p:sp>
        <p:nvSpPr>
          <p:cNvPr id="13" name="future Analytics dashboard"/>
          <p:cNvSpPr/>
          <p:nvPr/>
        </p:nvSpPr>
        <p:spPr>
          <a:xfrm>
            <a:off x="7114032" y="2926080"/>
            <a:ext cx="1508760" cy="1280160"/>
          </a:xfrm>
          <a:prstGeom prst="roundRect">
            <a:avLst>
              <a:gd name="adj" fmla="val 5714"/>
            </a:avLst>
          </a:prstGeom>
          <a:solidFill>
            <a:schemeClr val="bg2"/>
          </a:solidFill>
          <a:ln/>
        </p:spPr>
        <p:txBody>
          <a:bodyPr wrap="square" lIns="76200" tIns="76200" rIns="76200" bIns="76200" rtlCol="0" anchor="ctr"/>
          <a:lstStyle/>
          <a:p>
            <a:pPr algn="ctr" indent="0" marL="0">
              <a:buNone/>
            </a:pPr>
            <a:r>
              <a:rPr lang="en-US" sz="1400" b="1" dirty="0">
                <a:solidFill>
                  <a:schemeClr val="tx2"/>
                </a:solidFill>
              </a:rPr>
              <a:t>Analytics dashboard</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Clinical Teal">
  <a:themeElements>
    <a:clrScheme name="Clinical Teal">
      <a:dk1>
        <a:srgbClr val="1B2733"/>
      </a:dk1>
      <a:lt1>
        <a:srgbClr val="FFFFFF"/>
      </a:lt1>
      <a:dk2>
        <a:srgbClr val="0F2A43"/>
      </a:dk2>
      <a:lt2>
        <a:srgbClr val="E8F3F3"/>
      </a:lt2>
      <a:accent1>
        <a:srgbClr val="0E7C86"/>
      </a:accent1>
      <a:accent2>
        <a:srgbClr val="6D4AC4"/>
      </a:accent2>
      <a:accent3>
        <a:srgbClr val="F2A33A"/>
      </a:accent3>
      <a:accent4>
        <a:srgbClr val="2E8B57"/>
      </a:accent4>
      <a:accent5>
        <a:srgbClr val="C0392B"/>
      </a:accent5>
      <a:accent6>
        <a:srgbClr val="6B7C8F"/>
      </a:accent6>
      <a:hlink>
        <a:srgbClr val="0E7C86"/>
      </a:hlink>
      <a:folHlink>
        <a:srgbClr val="6D4AC4"/>
      </a:folHlink>
    </a:clrScheme>
    <a:fontScheme name="Clinical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NCT &amp; PubMed Research Intelligence Platform</dc:title>
  <dc:subject>PptxGenJS Presentation</dc:subject>
  <dc:creator>PptxGenJS</dc:creator>
  <cp:lastModifiedBy>PptxGenJS</cp:lastModifiedBy>
  <cp:revision>1</cp:revision>
  <dcterms:created xsi:type="dcterms:W3CDTF">2026-10-08T07:59:57Z</dcterms:created>
  <dcterms:modified xsi:type="dcterms:W3CDTF">2026-10-08T07:59:57Z</dcterms:modified>
</cp:coreProperties>
</file>